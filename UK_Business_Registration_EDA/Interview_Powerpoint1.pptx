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Ex1.xml" ContentType="application/vnd.ms-office.chartex+xml"/>
  <Override PartName="/ppt/charts/style1.xml" ContentType="application/vnd.ms-office.chartstyle+xml"/>
  <Override PartName="/ppt/charts/colors1.xml" ContentType="application/vnd.ms-office.chartcolorstyle+xml"/>
  <Override PartName="/ppt/charts/chart1.xml" ContentType="application/vnd.openxmlformats-officedocument.drawingml.chart+xml"/>
  <Override PartName="/ppt/charts/style2.xml" ContentType="application/vnd.ms-office.chartstyle+xml"/>
  <Override PartName="/ppt/charts/colors2.xml" ContentType="application/vnd.ms-office.chartcolorstyle+xml"/>
  <Override PartName="/ppt/charts/chart2.xml" ContentType="application/vnd.openxmlformats-officedocument.drawingml.chart+xml"/>
  <Override PartName="/ppt/charts/style3.xml" ContentType="application/vnd.ms-office.chartstyle+xml"/>
  <Override PartName="/ppt/charts/colors3.xml" ContentType="application/vnd.ms-office.chartcolorstyle+xml"/>
  <Override PartName="/ppt/charts/chart3.xml" ContentType="application/vnd.openxmlformats-officedocument.drawingml.chart+xml"/>
  <Override PartName="/ppt/charts/style4.xml" ContentType="application/vnd.ms-office.chartstyle+xml"/>
  <Override PartName="/ppt/charts/colors4.xml" ContentType="application/vnd.ms-office.chartcolorstyle+xml"/>
  <Override PartName="/ppt/charts/chart4.xml" ContentType="application/vnd.openxmlformats-officedocument.drawingml.chart+xml"/>
  <Override PartName="/ppt/charts/style5.xml" ContentType="application/vnd.ms-office.chartstyle+xml"/>
  <Override PartName="/ppt/charts/colors5.xml" ContentType="application/vnd.ms-office.chartcolorstyle+xml"/>
  <Override PartName="/ppt/charts/chart5.xml" ContentType="application/vnd.openxmlformats-officedocument.drawingml.chart+xml"/>
  <Override PartName="/ppt/charts/style6.xml" ContentType="application/vnd.ms-office.chartstyle+xml"/>
  <Override PartName="/ppt/charts/colors6.xml" ContentType="application/vnd.ms-office.chartcolorstyl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66" r:id="rId5"/>
    <p:sldId id="263" r:id="rId6"/>
    <p:sldId id="259" r:id="rId7"/>
    <p:sldId id="260" r:id="rId8"/>
    <p:sldId id="261"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DD72B4F-475E-40E2-999D-24C786F4E0CC}" v="106" dt="2025-10-01T16:40:47.64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6" autoAdjust="0"/>
    <p:restoredTop sz="94660"/>
  </p:normalViewPr>
  <p:slideViewPr>
    <p:cSldViewPr snapToGrid="0">
      <p:cViewPr varScale="1">
        <p:scale>
          <a:sx n="75" d="100"/>
          <a:sy n="75" d="100"/>
        </p:scale>
        <p:origin x="327" y="2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5/10/relationships/revisionInfo" Target="revisionInfo.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divin\Downloads\Upcoming%20Interview%20Task.xlsx" TargetMode="External"/><Relationship Id="rId2" Type="http://schemas.microsoft.com/office/2011/relationships/chartColorStyle" Target="colors2.xml"/><Relationship Id="rId1" Type="http://schemas.microsoft.com/office/2011/relationships/chartStyle" Target="style2.xml"/></Relationships>
</file>

<file path=ppt/charts/_rels/chart2.xml.rels><?xml version="1.0" encoding="UTF-8" standalone="yes"?>
<Relationships xmlns="http://schemas.openxmlformats.org/package/2006/relationships"><Relationship Id="rId3" Type="http://schemas.openxmlformats.org/officeDocument/2006/relationships/oleObject" Target="file:///C:\Users\divin\Downloads\Upcoming%20Interview%20Task.xlsx" TargetMode="External"/><Relationship Id="rId2" Type="http://schemas.microsoft.com/office/2011/relationships/chartColorStyle" Target="colors3.xml"/><Relationship Id="rId1" Type="http://schemas.microsoft.com/office/2011/relationships/chartStyle" Target="style3.xml"/></Relationships>
</file>

<file path=ppt/charts/_rels/chart3.xml.rels><?xml version="1.0" encoding="UTF-8" standalone="yes"?>
<Relationships xmlns="http://schemas.openxmlformats.org/package/2006/relationships"><Relationship Id="rId3" Type="http://schemas.openxmlformats.org/officeDocument/2006/relationships/oleObject" Target="file:///C:\Users\divin\Downloads\Upcoming%20Interview%20Task.xlsx" TargetMode="External"/><Relationship Id="rId2" Type="http://schemas.microsoft.com/office/2011/relationships/chartColorStyle" Target="colors4.xml"/><Relationship Id="rId1" Type="http://schemas.microsoft.com/office/2011/relationships/chartStyle" Target="style4.xml"/></Relationships>
</file>

<file path=ppt/charts/_rels/chart4.xml.rels><?xml version="1.0" encoding="UTF-8" standalone="yes"?>
<Relationships xmlns="http://schemas.openxmlformats.org/package/2006/relationships"><Relationship Id="rId3" Type="http://schemas.openxmlformats.org/officeDocument/2006/relationships/oleObject" Target="file:///C:\Users\divin\Downloads\Upcoming%20Interview%20Task.xlsx" TargetMode="External"/><Relationship Id="rId2" Type="http://schemas.microsoft.com/office/2011/relationships/chartColorStyle" Target="colors5.xml"/><Relationship Id="rId1" Type="http://schemas.microsoft.com/office/2011/relationships/chartStyle" Target="style5.xml"/></Relationships>
</file>

<file path=ppt/charts/_rels/chart5.xml.rels><?xml version="1.0" encoding="UTF-8" standalone="yes"?>
<Relationships xmlns="http://schemas.openxmlformats.org/package/2006/relationships"><Relationship Id="rId3" Type="http://schemas.openxmlformats.org/officeDocument/2006/relationships/oleObject" Target="file:///C:\Users\divin\Downloads\Upcoming%20Interview%20Task.xlsx" TargetMode="External"/><Relationship Id="rId2" Type="http://schemas.microsoft.com/office/2011/relationships/chartColorStyle" Target="colors6.xml"/><Relationship Id="rId1" Type="http://schemas.microsoft.com/office/2011/relationships/chartStyle" Target="style6.xml"/></Relationships>
</file>

<file path=ppt/charts/_rels/chartEx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file:///C:\Users\divin\Downloads\Upcoming%20Interview%20Task.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[Upcoming Interview Task.xlsx]Pivot Table!PivotTable13</c:name>
    <c:fmtId val="25"/>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dirty="0">
                <a:solidFill>
                  <a:schemeClr val="tx1"/>
                </a:solidFill>
                <a:highlight>
                  <a:srgbClr val="C0C0C0"/>
                </a:highlight>
                <a:latin typeface="Arial Black" panose="020B0A04020102020204" pitchFamily="34" charset="0"/>
              </a:rPr>
              <a:t>INCORPORATION</a:t>
            </a:r>
            <a:r>
              <a:rPr lang="en-US" b="1" baseline="0" dirty="0">
                <a:solidFill>
                  <a:schemeClr val="tx1"/>
                </a:solidFill>
                <a:highlight>
                  <a:srgbClr val="C0C0C0"/>
                </a:highlight>
                <a:latin typeface="Arial Black" panose="020B0A04020102020204" pitchFamily="34" charset="0"/>
              </a:rPr>
              <a:t> MONTH BY SECTOR</a:t>
            </a:r>
          </a:p>
        </c:rich>
      </c:tx>
      <c:layout>
        <c:manualLayout>
          <c:xMode val="edge"/>
          <c:yMode val="edge"/>
          <c:x val="0.21919135481869459"/>
          <c:y val="7.1807434768059925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9.1422223674322872E-2"/>
          <c:y val="0.33332043015462676"/>
          <c:w val="0.75574236830354713"/>
          <c:h val="0.41901442974359265"/>
        </c:manualLayout>
      </c:layout>
      <c:barChart>
        <c:barDir val="col"/>
        <c:grouping val="clustered"/>
        <c:varyColors val="0"/>
        <c:ser>
          <c:idx val="0"/>
          <c:order val="0"/>
          <c:tx>
            <c:strRef>
              <c:f>'Pivot Table'!$C$237:$C$238</c:f>
              <c:strCache>
                <c:ptCount val="1"/>
                <c:pt idx="0">
                  <c:v>March</c:v>
                </c:pt>
              </c:strCache>
            </c:strRef>
          </c:tx>
          <c:spPr>
            <a:solidFill>
              <a:schemeClr val="accent1"/>
            </a:solidFill>
            <a:ln>
              <a:noFill/>
            </a:ln>
            <a:effectLst/>
          </c:spPr>
          <c:invertIfNegative val="0"/>
          <c:cat>
            <c:strRef>
              <c:f>'Pivot Table'!$B$239:$B$242</c:f>
              <c:strCache>
                <c:ptCount val="3"/>
                <c:pt idx="0">
                  <c:v>Construction</c:v>
                </c:pt>
                <c:pt idx="1">
                  <c:v>Manufacturing</c:v>
                </c:pt>
                <c:pt idx="2">
                  <c:v>Education</c:v>
                </c:pt>
              </c:strCache>
            </c:strRef>
          </c:cat>
          <c:val>
            <c:numRef>
              <c:f>'Pivot Table'!$C$239:$C$242</c:f>
              <c:numCache>
                <c:formatCode>General</c:formatCode>
                <c:ptCount val="3"/>
                <c:pt idx="0">
                  <c:v>202</c:v>
                </c:pt>
                <c:pt idx="1">
                  <c:v>200</c:v>
                </c:pt>
                <c:pt idx="2">
                  <c:v>64</c:v>
                </c:pt>
              </c:numCache>
            </c:numRef>
          </c:val>
          <c:extLst>
            <c:ext xmlns:c16="http://schemas.microsoft.com/office/drawing/2014/chart" uri="{C3380CC4-5D6E-409C-BE32-E72D297353CC}">
              <c16:uniqueId val="{00000000-C213-4A24-8403-2CDC4C2BFC97}"/>
            </c:ext>
          </c:extLst>
        </c:ser>
        <c:ser>
          <c:idx val="1"/>
          <c:order val="1"/>
          <c:tx>
            <c:strRef>
              <c:f>'Pivot Table'!$D$237:$D$238</c:f>
              <c:strCache>
                <c:ptCount val="1"/>
                <c:pt idx="0">
                  <c:v>April</c:v>
                </c:pt>
              </c:strCache>
            </c:strRef>
          </c:tx>
          <c:spPr>
            <a:solidFill>
              <a:schemeClr val="accent2"/>
            </a:solidFill>
            <a:ln>
              <a:noFill/>
            </a:ln>
            <a:effectLst/>
          </c:spPr>
          <c:invertIfNegative val="0"/>
          <c:cat>
            <c:strRef>
              <c:f>'Pivot Table'!$B$239:$B$242</c:f>
              <c:strCache>
                <c:ptCount val="3"/>
                <c:pt idx="0">
                  <c:v>Construction</c:v>
                </c:pt>
                <c:pt idx="1">
                  <c:v>Manufacturing</c:v>
                </c:pt>
                <c:pt idx="2">
                  <c:v>Education</c:v>
                </c:pt>
              </c:strCache>
            </c:strRef>
          </c:cat>
          <c:val>
            <c:numRef>
              <c:f>'Pivot Table'!$D$239:$D$242</c:f>
              <c:numCache>
                <c:formatCode>General</c:formatCode>
                <c:ptCount val="3"/>
                <c:pt idx="0">
                  <c:v>179</c:v>
                </c:pt>
                <c:pt idx="1">
                  <c:v>210</c:v>
                </c:pt>
                <c:pt idx="2">
                  <c:v>55</c:v>
                </c:pt>
              </c:numCache>
            </c:numRef>
          </c:val>
          <c:extLst>
            <c:ext xmlns:c16="http://schemas.microsoft.com/office/drawing/2014/chart" uri="{C3380CC4-5D6E-409C-BE32-E72D297353CC}">
              <c16:uniqueId val="{00000001-C213-4A24-8403-2CDC4C2BFC97}"/>
            </c:ext>
          </c:extLst>
        </c:ser>
        <c:ser>
          <c:idx val="2"/>
          <c:order val="2"/>
          <c:tx>
            <c:strRef>
              <c:f>'Pivot Table'!$E$237:$E$238</c:f>
              <c:strCache>
                <c:ptCount val="1"/>
                <c:pt idx="0">
                  <c:v>October</c:v>
                </c:pt>
              </c:strCache>
            </c:strRef>
          </c:tx>
          <c:spPr>
            <a:solidFill>
              <a:schemeClr val="accent3"/>
            </a:solidFill>
            <a:ln>
              <a:noFill/>
            </a:ln>
            <a:effectLst/>
          </c:spPr>
          <c:invertIfNegative val="0"/>
          <c:cat>
            <c:strRef>
              <c:f>'Pivot Table'!$B$239:$B$242</c:f>
              <c:strCache>
                <c:ptCount val="3"/>
                <c:pt idx="0">
                  <c:v>Construction</c:v>
                </c:pt>
                <c:pt idx="1">
                  <c:v>Manufacturing</c:v>
                </c:pt>
                <c:pt idx="2">
                  <c:v>Education</c:v>
                </c:pt>
              </c:strCache>
            </c:strRef>
          </c:cat>
          <c:val>
            <c:numRef>
              <c:f>'Pivot Table'!$E$239:$E$242</c:f>
              <c:numCache>
                <c:formatCode>General</c:formatCode>
                <c:ptCount val="3"/>
                <c:pt idx="0">
                  <c:v>181</c:v>
                </c:pt>
                <c:pt idx="1">
                  <c:v>183</c:v>
                </c:pt>
                <c:pt idx="2">
                  <c:v>82</c:v>
                </c:pt>
              </c:numCache>
            </c:numRef>
          </c:val>
          <c:extLst>
            <c:ext xmlns:c16="http://schemas.microsoft.com/office/drawing/2014/chart" uri="{C3380CC4-5D6E-409C-BE32-E72D297353CC}">
              <c16:uniqueId val="{00000002-C213-4A24-8403-2CDC4C2BFC97}"/>
            </c:ext>
          </c:extLst>
        </c:ser>
        <c:dLbls>
          <c:showLegendKey val="0"/>
          <c:showVal val="0"/>
          <c:showCatName val="0"/>
          <c:showSerName val="0"/>
          <c:showPercent val="0"/>
          <c:showBubbleSize val="0"/>
        </c:dLbls>
        <c:gapWidth val="65"/>
        <c:overlap val="-24"/>
        <c:axId val="335992879"/>
        <c:axId val="1594082479"/>
      </c:barChart>
      <c:catAx>
        <c:axId val="33599287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94082479"/>
        <c:crosses val="autoZero"/>
        <c:auto val="1"/>
        <c:lblAlgn val="ctr"/>
        <c:lblOffset val="100"/>
        <c:noMultiLvlLbl val="0"/>
      </c:catAx>
      <c:valAx>
        <c:axId val="1594082479"/>
        <c:scaling>
          <c:orientation val="minMax"/>
        </c:scaling>
        <c:delete val="1"/>
        <c:axPos val="l"/>
        <c:numFmt formatCode="General" sourceLinked="1"/>
        <c:majorTickMark val="none"/>
        <c:minorTickMark val="none"/>
        <c:tickLblPos val="nextTo"/>
        <c:crossAx val="335992879"/>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900" b="1" i="0" u="none" strike="noStrike" kern="1200" baseline="0">
                <a:solidFill>
                  <a:schemeClr val="tx1"/>
                </a:solidFill>
                <a:latin typeface="+mn-lt"/>
                <a:ea typeface="+mn-ea"/>
                <a:cs typeface="+mn-cs"/>
              </a:defRPr>
            </a:pPr>
            <a:endParaRPr lang="en-US"/>
          </a:p>
        </c:txPr>
      </c:dTable>
      <c:spPr>
        <a:noFill/>
        <a:ln>
          <a:noFill/>
        </a:ln>
        <a:effectLst/>
      </c:spPr>
    </c:plotArea>
    <c:legend>
      <c:legendPos val="r"/>
      <c:layout>
        <c:manualLayout>
          <c:xMode val="edge"/>
          <c:yMode val="edge"/>
          <c:x val="0.78607316578136865"/>
          <c:y val="0.20458462457356305"/>
          <c:w val="0.15748647357572212"/>
          <c:h val="0.16653490833372311"/>
        </c:manualLayout>
      </c:layout>
      <c:overlay val="0"/>
      <c:spPr>
        <a:noFill/>
        <a:ln>
          <a:noFill/>
        </a:ln>
        <a:effectLst/>
      </c:spPr>
      <c:txPr>
        <a:bodyPr rot="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3">
        <a:lumMod val="20000"/>
        <a:lumOff val="80000"/>
      </a:schemeClr>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[Upcoming Interview Task.xlsx]Pivot Table!PivotTable1</c:name>
    <c:fmtId val="13"/>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dirty="0">
                <a:solidFill>
                  <a:schemeClr val="tx1"/>
                </a:solidFill>
                <a:latin typeface="Arial Black" panose="020B0A04020102020204" pitchFamily="34" charset="0"/>
              </a:rPr>
              <a:t>TOP FIVE INCORPORATION MONTH</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lumMod val="50000"/>
            </a:schemeClr>
          </a:solidFill>
          <a:ln>
            <a:noFill/>
          </a:ln>
          <a:effectLst/>
        </c:spPr>
      </c:pivotFmt>
      <c:pivotFmt>
        <c:idx val="2"/>
        <c:spPr>
          <a:solidFill>
            <a:schemeClr val="accent1">
              <a:lumMod val="75000"/>
            </a:schemeClr>
          </a:solidFill>
          <a:ln>
            <a:noFill/>
          </a:ln>
          <a:effectLst/>
        </c:spPr>
      </c:pivotFmt>
      <c:pivotFmt>
        <c:idx val="3"/>
        <c:spPr>
          <a:solidFill>
            <a:schemeClr val="tx2">
              <a:lumMod val="75000"/>
              <a:lumOff val="25000"/>
            </a:schemeClr>
          </a:solidFill>
          <a:ln>
            <a:noFill/>
          </a:ln>
          <a:effectLst/>
        </c:spPr>
      </c:pivotFmt>
      <c:pivotFmt>
        <c:idx val="4"/>
        <c:spPr>
          <a:solidFill>
            <a:schemeClr val="tx2">
              <a:lumMod val="50000"/>
              <a:lumOff val="50000"/>
            </a:schemeClr>
          </a:solidFill>
          <a:ln>
            <a:noFill/>
          </a:ln>
          <a:effectLst/>
        </c:spPr>
      </c:pivotFmt>
      <c:pivotFmt>
        <c:idx val="5"/>
        <c:spPr>
          <a:solidFill>
            <a:schemeClr val="accent1">
              <a:lumMod val="60000"/>
              <a:lumOff val="40000"/>
            </a:schemeClr>
          </a:solidFill>
          <a:ln>
            <a:noFill/>
          </a:ln>
          <a:effectLst/>
        </c:spPr>
      </c:pivotFmt>
      <c:pivotFmt>
        <c:idx val="6"/>
        <c:spPr>
          <a:solidFill>
            <a:schemeClr val="accent1">
              <a:lumMod val="40000"/>
              <a:lumOff val="60000"/>
            </a:schemeClr>
          </a:solidFill>
          <a:ln>
            <a:noFill/>
          </a:ln>
          <a:effectLst/>
        </c:spPr>
      </c:pivotFmt>
      <c:pivotFmt>
        <c:idx val="7"/>
        <c:spPr>
          <a:solidFill>
            <a:srgbClr val="00B0F0"/>
          </a:solidFill>
          <a:ln>
            <a:noFill/>
          </a:ln>
          <a:effectLst/>
        </c:spPr>
      </c:pivotFmt>
      <c:pivotFmt>
        <c:idx val="8"/>
        <c:spPr>
          <a:solidFill>
            <a:schemeClr val="accent1">
              <a:lumMod val="60000"/>
              <a:lumOff val="40000"/>
            </a:schemeClr>
          </a:solidFill>
          <a:ln>
            <a:noFill/>
          </a:ln>
          <a:effectLst/>
        </c:spPr>
      </c:pivotFmt>
      <c:pivotFmt>
        <c:idx val="9"/>
        <c:spPr>
          <a:solidFill>
            <a:schemeClr val="accent1">
              <a:lumMod val="60000"/>
              <a:lumOff val="40000"/>
            </a:schemeClr>
          </a:solidFill>
          <a:ln>
            <a:noFill/>
          </a:ln>
          <a:effectLst/>
        </c:spPr>
      </c:pivotFmt>
      <c:pivotFmt>
        <c:idx val="10"/>
        <c:spPr>
          <a:solidFill>
            <a:schemeClr val="accent1">
              <a:lumMod val="40000"/>
              <a:lumOff val="60000"/>
            </a:schemeClr>
          </a:solidFill>
          <a:ln>
            <a:noFill/>
          </a:ln>
          <a:effectLst/>
        </c:spPr>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lumMod val="50000"/>
            </a:schemeClr>
          </a:solidFill>
          <a:ln>
            <a:noFill/>
          </a:ln>
          <a:effectLst/>
        </c:spPr>
      </c:pivotFmt>
      <c:pivotFmt>
        <c:idx val="13"/>
        <c:spPr>
          <a:solidFill>
            <a:schemeClr val="accent1">
              <a:lumMod val="75000"/>
            </a:schemeClr>
          </a:solidFill>
          <a:ln>
            <a:noFill/>
          </a:ln>
          <a:effectLst/>
        </c:spPr>
      </c:pivotFmt>
      <c:pivotFmt>
        <c:idx val="14"/>
        <c:spPr>
          <a:solidFill>
            <a:schemeClr val="tx2">
              <a:lumMod val="75000"/>
              <a:lumOff val="25000"/>
            </a:schemeClr>
          </a:solidFill>
          <a:ln>
            <a:noFill/>
          </a:ln>
          <a:effectLst/>
        </c:spPr>
      </c:pivotFmt>
      <c:pivotFmt>
        <c:idx val="15"/>
        <c:spPr>
          <a:solidFill>
            <a:schemeClr val="tx2">
              <a:lumMod val="50000"/>
              <a:lumOff val="50000"/>
            </a:schemeClr>
          </a:solidFill>
          <a:ln>
            <a:noFill/>
          </a:ln>
          <a:effectLst/>
        </c:spPr>
      </c:pivotFmt>
      <c:pivotFmt>
        <c:idx val="16"/>
        <c:spPr>
          <a:solidFill>
            <a:schemeClr val="accent1">
              <a:lumMod val="60000"/>
              <a:lumOff val="40000"/>
            </a:schemeClr>
          </a:solidFill>
          <a:ln>
            <a:noFill/>
          </a:ln>
          <a:effectLst/>
        </c:spPr>
      </c:pivotFmt>
      <c:pivotFmt>
        <c:idx val="1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8"/>
        <c:spPr>
          <a:solidFill>
            <a:schemeClr val="accent1">
              <a:lumMod val="50000"/>
            </a:schemeClr>
          </a:solidFill>
          <a:ln>
            <a:noFill/>
          </a:ln>
          <a:effectLst/>
        </c:spPr>
      </c:pivotFmt>
      <c:pivotFmt>
        <c:idx val="19"/>
        <c:spPr>
          <a:solidFill>
            <a:schemeClr val="accent1">
              <a:lumMod val="75000"/>
            </a:schemeClr>
          </a:solidFill>
          <a:ln>
            <a:noFill/>
          </a:ln>
          <a:effectLst/>
        </c:spPr>
      </c:pivotFmt>
      <c:pivotFmt>
        <c:idx val="20"/>
        <c:spPr>
          <a:solidFill>
            <a:schemeClr val="tx2">
              <a:lumMod val="75000"/>
              <a:lumOff val="25000"/>
            </a:schemeClr>
          </a:solidFill>
          <a:ln>
            <a:noFill/>
          </a:ln>
          <a:effectLst/>
        </c:spPr>
      </c:pivotFmt>
      <c:pivotFmt>
        <c:idx val="21"/>
        <c:spPr>
          <a:solidFill>
            <a:schemeClr val="tx2">
              <a:lumMod val="50000"/>
              <a:lumOff val="50000"/>
            </a:schemeClr>
          </a:solidFill>
          <a:ln>
            <a:noFill/>
          </a:ln>
          <a:effectLst/>
        </c:spPr>
      </c:pivotFmt>
      <c:pivotFmt>
        <c:idx val="22"/>
        <c:spPr>
          <a:solidFill>
            <a:schemeClr val="accent1">
              <a:lumMod val="60000"/>
              <a:lumOff val="40000"/>
            </a:schemeClr>
          </a:solidFill>
          <a:ln>
            <a:noFill/>
          </a:ln>
          <a:effectLst/>
        </c:spPr>
      </c:pivotFmt>
    </c:pivotFmts>
    <c:plotArea>
      <c:layout/>
      <c:barChart>
        <c:barDir val="col"/>
        <c:grouping val="clustered"/>
        <c:varyColors val="0"/>
        <c:ser>
          <c:idx val="0"/>
          <c:order val="0"/>
          <c:tx>
            <c:strRef>
              <c:f>'Pivot Table'!$B$3</c:f>
              <c:strCache>
                <c:ptCount val="1"/>
                <c:pt idx="0">
                  <c:v>Total</c:v>
                </c:pt>
              </c:strCache>
            </c:strRef>
          </c:tx>
          <c:spPr>
            <a:solidFill>
              <a:schemeClr val="accent1"/>
            </a:solidFill>
            <a:ln>
              <a:noFill/>
            </a:ln>
            <a:effectLst/>
          </c:spPr>
          <c:invertIfNegative val="0"/>
          <c:dPt>
            <c:idx val="0"/>
            <c:invertIfNegative val="0"/>
            <c:bubble3D val="0"/>
            <c:spPr>
              <a:solidFill>
                <a:schemeClr val="accent1">
                  <a:lumMod val="50000"/>
                </a:schemeClr>
              </a:solidFill>
              <a:ln>
                <a:noFill/>
              </a:ln>
              <a:effectLst/>
            </c:spPr>
            <c:extLst>
              <c:ext xmlns:c16="http://schemas.microsoft.com/office/drawing/2014/chart" uri="{C3380CC4-5D6E-409C-BE32-E72D297353CC}">
                <c16:uniqueId val="{00000001-DF21-4108-82A4-AD7A0375A27B}"/>
              </c:ext>
            </c:extLst>
          </c:dPt>
          <c:dPt>
            <c:idx val="1"/>
            <c:invertIfNegative val="0"/>
            <c:bubble3D val="0"/>
            <c:spPr>
              <a:solidFill>
                <a:schemeClr val="accent1">
                  <a:lumMod val="75000"/>
                </a:schemeClr>
              </a:solidFill>
              <a:ln>
                <a:noFill/>
              </a:ln>
              <a:effectLst/>
            </c:spPr>
            <c:extLst>
              <c:ext xmlns:c16="http://schemas.microsoft.com/office/drawing/2014/chart" uri="{C3380CC4-5D6E-409C-BE32-E72D297353CC}">
                <c16:uniqueId val="{00000003-DF21-4108-82A4-AD7A0375A27B}"/>
              </c:ext>
            </c:extLst>
          </c:dPt>
          <c:dPt>
            <c:idx val="2"/>
            <c:invertIfNegative val="0"/>
            <c:bubble3D val="0"/>
            <c:spPr>
              <a:solidFill>
                <a:schemeClr val="tx2">
                  <a:lumMod val="75000"/>
                  <a:lumOff val="25000"/>
                </a:schemeClr>
              </a:solidFill>
              <a:ln>
                <a:noFill/>
              </a:ln>
              <a:effectLst/>
            </c:spPr>
            <c:extLst>
              <c:ext xmlns:c16="http://schemas.microsoft.com/office/drawing/2014/chart" uri="{C3380CC4-5D6E-409C-BE32-E72D297353CC}">
                <c16:uniqueId val="{00000005-DF21-4108-82A4-AD7A0375A27B}"/>
              </c:ext>
            </c:extLst>
          </c:dPt>
          <c:dPt>
            <c:idx val="3"/>
            <c:invertIfNegative val="0"/>
            <c:bubble3D val="0"/>
            <c:spPr>
              <a:solidFill>
                <a:schemeClr val="tx2">
                  <a:lumMod val="50000"/>
                  <a:lumOff val="50000"/>
                </a:schemeClr>
              </a:solidFill>
              <a:ln>
                <a:noFill/>
              </a:ln>
              <a:effectLst/>
            </c:spPr>
            <c:extLst>
              <c:ext xmlns:c16="http://schemas.microsoft.com/office/drawing/2014/chart" uri="{C3380CC4-5D6E-409C-BE32-E72D297353CC}">
                <c16:uniqueId val="{00000007-DF21-4108-82A4-AD7A0375A27B}"/>
              </c:ext>
            </c:extLst>
          </c:dPt>
          <c:dPt>
            <c:idx val="4"/>
            <c:invertIfNegative val="0"/>
            <c:bubble3D val="0"/>
            <c:spPr>
              <a:solidFill>
                <a:schemeClr val="accent1">
                  <a:lumMod val="60000"/>
                  <a:lumOff val="40000"/>
                </a:schemeClr>
              </a:solidFill>
              <a:ln>
                <a:noFill/>
              </a:ln>
              <a:effectLst/>
            </c:spPr>
            <c:extLst>
              <c:ext xmlns:c16="http://schemas.microsoft.com/office/drawing/2014/chart" uri="{C3380CC4-5D6E-409C-BE32-E72D297353CC}">
                <c16:uniqueId val="{00000009-DF21-4108-82A4-AD7A0375A27B}"/>
              </c:ext>
            </c:extLst>
          </c:dPt>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 Table'!$A$4:$A$9</c:f>
              <c:strCache>
                <c:ptCount val="5"/>
                <c:pt idx="0">
                  <c:v>March</c:v>
                </c:pt>
                <c:pt idx="1">
                  <c:v>October</c:v>
                </c:pt>
                <c:pt idx="2">
                  <c:v>November</c:v>
                </c:pt>
                <c:pt idx="3">
                  <c:v>September</c:v>
                </c:pt>
                <c:pt idx="4">
                  <c:v>February</c:v>
                </c:pt>
              </c:strCache>
            </c:strRef>
          </c:cat>
          <c:val>
            <c:numRef>
              <c:f>'Pivot Table'!$B$4:$B$9</c:f>
              <c:numCache>
                <c:formatCode>General</c:formatCode>
                <c:ptCount val="5"/>
                <c:pt idx="0">
                  <c:v>4730</c:v>
                </c:pt>
                <c:pt idx="1">
                  <c:v>4579</c:v>
                </c:pt>
                <c:pt idx="2">
                  <c:v>4425</c:v>
                </c:pt>
                <c:pt idx="3">
                  <c:v>4339</c:v>
                </c:pt>
                <c:pt idx="4">
                  <c:v>4230</c:v>
                </c:pt>
              </c:numCache>
            </c:numRef>
          </c:val>
          <c:extLst>
            <c:ext xmlns:c16="http://schemas.microsoft.com/office/drawing/2014/chart" uri="{C3380CC4-5D6E-409C-BE32-E72D297353CC}">
              <c16:uniqueId val="{0000000A-DF21-4108-82A4-AD7A0375A27B}"/>
            </c:ext>
          </c:extLst>
        </c:ser>
        <c:dLbls>
          <c:dLblPos val="outEnd"/>
          <c:showLegendKey val="0"/>
          <c:showVal val="1"/>
          <c:showCatName val="0"/>
          <c:showSerName val="0"/>
          <c:showPercent val="0"/>
          <c:showBubbleSize val="0"/>
        </c:dLbls>
        <c:gapWidth val="83"/>
        <c:axId val="1207705119"/>
        <c:axId val="1207705599"/>
      </c:barChart>
      <c:catAx>
        <c:axId val="1207705119"/>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b="1">
                    <a:solidFill>
                      <a:schemeClr val="tx1"/>
                    </a:solidFill>
                  </a:rPr>
                  <a:t>Month</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mn-lt"/>
                <a:ea typeface="+mn-ea"/>
                <a:cs typeface="+mn-cs"/>
              </a:defRPr>
            </a:pPr>
            <a:endParaRPr lang="en-US"/>
          </a:p>
        </c:txPr>
        <c:crossAx val="1207705599"/>
        <c:crosses val="autoZero"/>
        <c:auto val="1"/>
        <c:lblAlgn val="ctr"/>
        <c:lblOffset val="100"/>
        <c:noMultiLvlLbl val="0"/>
      </c:catAx>
      <c:valAx>
        <c:axId val="1207705599"/>
        <c:scaling>
          <c:orientation val="minMax"/>
        </c:scaling>
        <c:delete val="1"/>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b="1">
                    <a:solidFill>
                      <a:schemeClr val="tx1"/>
                    </a:solidFill>
                  </a:rPr>
                  <a:t>Numbers</a:t>
                </a:r>
                <a:r>
                  <a:rPr lang="en-US" b="1" baseline="0">
                    <a:solidFill>
                      <a:schemeClr val="tx1"/>
                    </a:solidFill>
                  </a:rPr>
                  <a:t> of Company INC</a:t>
                </a:r>
                <a:endParaRPr lang="en-US" b="1">
                  <a:solidFill>
                    <a:schemeClr val="tx1"/>
                  </a:solidFill>
                </a:endParaRP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crossAx val="1207705119"/>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1"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1">
        <a:lumMod val="20000"/>
        <a:lumOff val="80000"/>
      </a:schemeClr>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[Upcoming Interview Task.xlsx]Pivot Table!PivotTable4</c:name>
    <c:fmtId val="9"/>
  </c:pivotSource>
  <c:chart>
    <c:title>
      <c:tx>
        <c:rich>
          <a:bodyPr rot="0" spcFirstLastPara="1" vertOverflow="ellipsis" vert="horz" wrap="square" anchor="ctr" anchorCtr="1"/>
          <a:lstStyle/>
          <a:p>
            <a:pPr>
              <a:defRPr sz="1500" b="1" i="0" u="none" strike="noStrike" kern="1200" cap="all" spc="100" normalizeH="0" baseline="0">
                <a:solidFill>
                  <a:schemeClr val="lt1"/>
                </a:solidFill>
                <a:latin typeface="+mn-lt"/>
                <a:ea typeface="+mn-ea"/>
                <a:cs typeface="+mn-cs"/>
              </a:defRPr>
            </a:pPr>
            <a:r>
              <a:rPr lang="en-US"/>
              <a:t>Closed Company Over The Years</a:t>
            </a:r>
          </a:p>
        </c:rich>
      </c:tx>
      <c:overlay val="0"/>
      <c:spPr>
        <a:noFill/>
        <a:ln>
          <a:noFill/>
        </a:ln>
        <a:effectLst/>
      </c:spPr>
      <c:txPr>
        <a:bodyPr rot="0" spcFirstLastPara="1" vertOverflow="ellipsis" vert="horz" wrap="square" anchor="ctr" anchorCtr="1"/>
        <a:lstStyle/>
        <a:p>
          <a:pPr>
            <a:defRPr sz="1500" b="1" i="0" u="none" strike="noStrike" kern="1200" cap="all" spc="100" normalizeH="0" baseline="0">
              <a:solidFill>
                <a:schemeClr val="lt1"/>
              </a:solidFill>
              <a:latin typeface="+mn-lt"/>
              <a:ea typeface="+mn-ea"/>
              <a:cs typeface="+mn-cs"/>
            </a:defRPr>
          </a:pPr>
          <a:endParaRPr lang="en-US"/>
        </a:p>
      </c:txPr>
    </c:title>
    <c:autoTitleDeleted val="0"/>
    <c:pivotFmts>
      <c:pivotFmt>
        <c:idx val="0"/>
        <c:spPr>
          <a:pattFill prst="ltUpDiag">
            <a:fgClr>
              <a:schemeClr val="accent1"/>
            </a:fgClr>
            <a:bgClr>
              <a:schemeClr val="lt1"/>
            </a:bgClr>
          </a:pattFill>
          <a:ln w="34925" cap="rnd">
            <a:solidFill>
              <a:schemeClr val="lt1"/>
            </a:solidFill>
            <a:round/>
          </a:ln>
          <a:effectLst>
            <a:outerShdw dist="25400" dir="2700000" algn="tl" rotWithShape="0">
              <a:schemeClr val="accent1"/>
            </a:outerShdw>
          </a:effectLst>
        </c:spPr>
        <c:marker>
          <c:symbol val="circle"/>
          <c:size val="5"/>
          <c:spPr>
            <a:solidFill>
              <a:schemeClr val="accent1"/>
            </a:solidFill>
            <a:ln w="22225">
              <a:solidFill>
                <a:schemeClr val="lt1"/>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1"/>
        <c:spPr>
          <a:pattFill prst="ltUpDiag">
            <a:fgClr>
              <a:schemeClr val="accent1"/>
            </a:fgClr>
            <a:bgClr>
              <a:schemeClr val="lt1"/>
            </a:bgClr>
          </a:pattFill>
          <a:ln w="34925" cap="rnd">
            <a:solidFill>
              <a:schemeClr val="lt1"/>
            </a:solidFill>
            <a:round/>
          </a:ln>
          <a:effectLst>
            <a:outerShdw dist="25400" dir="2700000" algn="tl" rotWithShape="0">
              <a:schemeClr val="accent1"/>
            </a:outerShdw>
          </a:effectLst>
        </c:spPr>
        <c:marker>
          <c:symbol val="circle"/>
          <c:size val="5"/>
          <c:spPr>
            <a:solidFill>
              <a:schemeClr val="accent1"/>
            </a:solidFill>
            <a:ln w="22225">
              <a:solidFill>
                <a:schemeClr val="lt1"/>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pattFill prst="ltUpDiag">
            <a:fgClr>
              <a:schemeClr val="accent1"/>
            </a:fgClr>
            <a:bgClr>
              <a:schemeClr val="lt1"/>
            </a:bgClr>
          </a:pattFill>
          <a:ln w="34925" cap="rnd">
            <a:solidFill>
              <a:schemeClr val="lt1"/>
            </a:solidFill>
            <a:round/>
          </a:ln>
          <a:effectLst>
            <a:outerShdw dist="25400" dir="2700000" algn="tl" rotWithShape="0">
              <a:schemeClr val="accent1"/>
            </a:outerShdw>
          </a:effectLst>
        </c:spPr>
        <c:marker>
          <c:symbol val="circle"/>
          <c:size val="5"/>
          <c:spPr>
            <a:solidFill>
              <a:schemeClr val="accent1"/>
            </a:solidFill>
            <a:ln w="22225">
              <a:solidFill>
                <a:schemeClr val="lt1"/>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'Pivot Table'!$B$44</c:f>
              <c:strCache>
                <c:ptCount val="1"/>
                <c:pt idx="0">
                  <c:v>Total</c:v>
                </c:pt>
              </c:strCache>
            </c:strRef>
          </c:tx>
          <c:spPr>
            <a:ln w="34925" cap="rnd">
              <a:solidFill>
                <a:schemeClr val="lt1"/>
              </a:solidFill>
              <a:round/>
            </a:ln>
            <a:effectLst>
              <a:outerShdw dist="25400" dir="2700000" algn="tl" rotWithShape="0">
                <a:schemeClr val="accent1"/>
              </a:outerShdw>
            </a:effectLst>
          </c:spPr>
          <c:marker>
            <c:symbol val="circle"/>
            <c:size val="5"/>
            <c:spPr>
              <a:solidFill>
                <a:schemeClr val="accent1"/>
              </a:solidFill>
              <a:ln w="22225">
                <a:solidFill>
                  <a:schemeClr val="lt1"/>
                </a:solidFill>
                <a:round/>
              </a:ln>
              <a:effectLst/>
            </c:spPr>
          </c:marker>
          <c:cat>
            <c:strRef>
              <c:f>'Pivot Table'!$A$45:$A$85</c:f>
              <c:strCache>
                <c:ptCount val="40"/>
                <c:pt idx="0">
                  <c:v>1900</c:v>
                </c:pt>
                <c:pt idx="1">
                  <c:v>1983</c:v>
                </c:pt>
                <c:pt idx="2">
                  <c:v>1986</c:v>
                </c:pt>
                <c:pt idx="3">
                  <c:v>1987</c:v>
                </c:pt>
                <c:pt idx="4">
                  <c:v>1988</c:v>
                </c:pt>
                <c:pt idx="5">
                  <c:v>1989</c:v>
                </c:pt>
                <c:pt idx="6">
                  <c:v>1990</c:v>
                </c:pt>
                <c:pt idx="7">
                  <c:v>1991</c:v>
                </c:pt>
                <c:pt idx="8">
                  <c:v>1992</c:v>
                </c:pt>
                <c:pt idx="9">
                  <c:v>1993</c:v>
                </c:pt>
                <c:pt idx="10">
                  <c:v>1994</c:v>
                </c:pt>
                <c:pt idx="11">
                  <c:v>1995</c:v>
                </c:pt>
                <c:pt idx="12">
                  <c:v>1996</c:v>
                </c:pt>
                <c:pt idx="13">
                  <c:v>1997</c:v>
                </c:pt>
                <c:pt idx="14">
                  <c:v>1998</c:v>
                </c:pt>
                <c:pt idx="15">
                  <c:v>1999</c:v>
                </c:pt>
                <c:pt idx="16">
                  <c:v>2000</c:v>
                </c:pt>
                <c:pt idx="17">
                  <c:v>2001</c:v>
                </c:pt>
                <c:pt idx="18">
                  <c:v>2002</c:v>
                </c:pt>
                <c:pt idx="19">
                  <c:v>2004</c:v>
                </c:pt>
                <c:pt idx="20">
                  <c:v>2005</c:v>
                </c:pt>
                <c:pt idx="21">
                  <c:v>2006</c:v>
                </c:pt>
                <c:pt idx="22">
                  <c:v>2007</c:v>
                </c:pt>
                <c:pt idx="23">
                  <c:v>2008</c:v>
                </c:pt>
                <c:pt idx="24">
                  <c:v>2009</c:v>
                </c:pt>
                <c:pt idx="25">
                  <c:v>2010</c:v>
                </c:pt>
                <c:pt idx="26">
                  <c:v>2011</c:v>
                </c:pt>
                <c:pt idx="27">
                  <c:v>2012</c:v>
                </c:pt>
                <c:pt idx="28">
                  <c:v>2013</c:v>
                </c:pt>
                <c:pt idx="29">
                  <c:v>2014</c:v>
                </c:pt>
                <c:pt idx="30">
                  <c:v>2015</c:v>
                </c:pt>
                <c:pt idx="31">
                  <c:v>2016</c:v>
                </c:pt>
                <c:pt idx="32">
                  <c:v>2017</c:v>
                </c:pt>
                <c:pt idx="33">
                  <c:v>2018</c:v>
                </c:pt>
                <c:pt idx="34">
                  <c:v>2019</c:v>
                </c:pt>
                <c:pt idx="35">
                  <c:v>2020</c:v>
                </c:pt>
                <c:pt idx="36">
                  <c:v>2021</c:v>
                </c:pt>
                <c:pt idx="37">
                  <c:v>2022</c:v>
                </c:pt>
                <c:pt idx="38">
                  <c:v>2023</c:v>
                </c:pt>
                <c:pt idx="39">
                  <c:v>2024</c:v>
                </c:pt>
              </c:strCache>
            </c:strRef>
          </c:cat>
          <c:val>
            <c:numRef>
              <c:f>'Pivot Table'!$B$45:$B$85</c:f>
              <c:numCache>
                <c:formatCode>General</c:formatCode>
                <c:ptCount val="40"/>
                <c:pt idx="0">
                  <c:v>100</c:v>
                </c:pt>
                <c:pt idx="1">
                  <c:v>1</c:v>
                </c:pt>
                <c:pt idx="2">
                  <c:v>7</c:v>
                </c:pt>
                <c:pt idx="3">
                  <c:v>6</c:v>
                </c:pt>
                <c:pt idx="4">
                  <c:v>4</c:v>
                </c:pt>
                <c:pt idx="5">
                  <c:v>11</c:v>
                </c:pt>
                <c:pt idx="6">
                  <c:v>10</c:v>
                </c:pt>
                <c:pt idx="7">
                  <c:v>13</c:v>
                </c:pt>
                <c:pt idx="8">
                  <c:v>16</c:v>
                </c:pt>
                <c:pt idx="9">
                  <c:v>3</c:v>
                </c:pt>
                <c:pt idx="10">
                  <c:v>1</c:v>
                </c:pt>
                <c:pt idx="11">
                  <c:v>3</c:v>
                </c:pt>
                <c:pt idx="12">
                  <c:v>2</c:v>
                </c:pt>
                <c:pt idx="13">
                  <c:v>3</c:v>
                </c:pt>
                <c:pt idx="14">
                  <c:v>6</c:v>
                </c:pt>
                <c:pt idx="15">
                  <c:v>4</c:v>
                </c:pt>
                <c:pt idx="16">
                  <c:v>3</c:v>
                </c:pt>
                <c:pt idx="17">
                  <c:v>5</c:v>
                </c:pt>
                <c:pt idx="18">
                  <c:v>4</c:v>
                </c:pt>
                <c:pt idx="19">
                  <c:v>5</c:v>
                </c:pt>
                <c:pt idx="20">
                  <c:v>2</c:v>
                </c:pt>
                <c:pt idx="21">
                  <c:v>5</c:v>
                </c:pt>
                <c:pt idx="22">
                  <c:v>9</c:v>
                </c:pt>
                <c:pt idx="23">
                  <c:v>13</c:v>
                </c:pt>
                <c:pt idx="24">
                  <c:v>9</c:v>
                </c:pt>
                <c:pt idx="25">
                  <c:v>16</c:v>
                </c:pt>
                <c:pt idx="26">
                  <c:v>10</c:v>
                </c:pt>
                <c:pt idx="27">
                  <c:v>10</c:v>
                </c:pt>
                <c:pt idx="28">
                  <c:v>2</c:v>
                </c:pt>
                <c:pt idx="29">
                  <c:v>7</c:v>
                </c:pt>
                <c:pt idx="30">
                  <c:v>10</c:v>
                </c:pt>
                <c:pt idx="31">
                  <c:v>14</c:v>
                </c:pt>
                <c:pt idx="32">
                  <c:v>22</c:v>
                </c:pt>
                <c:pt idx="33">
                  <c:v>24</c:v>
                </c:pt>
                <c:pt idx="34">
                  <c:v>31</c:v>
                </c:pt>
                <c:pt idx="35">
                  <c:v>59</c:v>
                </c:pt>
                <c:pt idx="36">
                  <c:v>118</c:v>
                </c:pt>
                <c:pt idx="37">
                  <c:v>160</c:v>
                </c:pt>
                <c:pt idx="38">
                  <c:v>135</c:v>
                </c:pt>
                <c:pt idx="39">
                  <c:v>44</c:v>
                </c:pt>
              </c:numCache>
            </c:numRef>
          </c:val>
          <c:smooth val="0"/>
          <c:extLst>
            <c:ext xmlns:c16="http://schemas.microsoft.com/office/drawing/2014/chart" uri="{C3380CC4-5D6E-409C-BE32-E72D297353CC}">
              <c16:uniqueId val="{00000000-9A36-46CA-BB31-33B3E32793CB}"/>
            </c:ext>
          </c:extLst>
        </c:ser>
        <c:dLbls>
          <c:showLegendKey val="0"/>
          <c:showVal val="0"/>
          <c:showCatName val="0"/>
          <c:showSerName val="0"/>
          <c:showPercent val="0"/>
          <c:showBubbleSize val="0"/>
        </c:dLbls>
        <c:dropLines>
          <c:spPr>
            <a:ln w="9525" cap="flat" cmpd="sng" algn="ctr">
              <a:gradFill>
                <a:gsLst>
                  <a:gs pos="0">
                    <a:schemeClr val="lt1"/>
                  </a:gs>
                  <a:gs pos="100000">
                    <a:schemeClr val="lt1">
                      <a:alpha val="0"/>
                    </a:schemeClr>
                  </a:gs>
                </a:gsLst>
                <a:lin ang="5400000" scaled="0"/>
              </a:gradFill>
              <a:round/>
            </a:ln>
            <a:effectLst/>
          </c:spPr>
        </c:dropLines>
        <c:marker val="1"/>
        <c:smooth val="0"/>
        <c:axId val="1502990143"/>
        <c:axId val="1502992543"/>
      </c:lineChart>
      <c:catAx>
        <c:axId val="1502990143"/>
        <c:scaling>
          <c:orientation val="minMax"/>
        </c:scaling>
        <c:delete val="0"/>
        <c:axPos val="b"/>
        <c:title>
          <c:tx>
            <c:rich>
              <a:bodyPr rot="0" spcFirstLastPara="1" vertOverflow="ellipsis" vert="horz" wrap="square" anchor="ctr" anchorCtr="1"/>
              <a:lstStyle/>
              <a:p>
                <a:pPr>
                  <a:defRPr sz="900" b="1" i="0" u="none" strike="noStrike" kern="1200" baseline="0">
                    <a:solidFill>
                      <a:schemeClr val="lt1"/>
                    </a:solidFill>
                    <a:latin typeface="+mn-lt"/>
                    <a:ea typeface="+mn-ea"/>
                    <a:cs typeface="+mn-cs"/>
                  </a:defRPr>
                </a:pPr>
                <a:r>
                  <a:rPr lang="en-US"/>
                  <a:t>Company Year</a:t>
                </a:r>
                <a:r>
                  <a:rPr lang="en-US" baseline="0"/>
                  <a:t> Closed</a:t>
                </a:r>
                <a:endParaRPr lang="en-US"/>
              </a:p>
            </c:rich>
          </c:tx>
          <c:overlay val="0"/>
          <c:spPr>
            <a:noFill/>
            <a:ln>
              <a:noFill/>
            </a:ln>
            <a:effectLst/>
          </c:spPr>
          <c:txPr>
            <a:bodyPr rot="0" spcFirstLastPara="1" vertOverflow="ellipsis" vert="horz" wrap="square" anchor="ctr" anchorCtr="1"/>
            <a:lstStyle/>
            <a:p>
              <a:pPr>
                <a:defRPr sz="900" b="1" i="0" u="none" strike="noStrike" kern="1200" baseline="0">
                  <a:solidFill>
                    <a:schemeClr val="lt1"/>
                  </a:solidFill>
                  <a:latin typeface="+mn-lt"/>
                  <a:ea typeface="+mn-ea"/>
                  <a:cs typeface="+mn-cs"/>
                </a:defRPr>
              </a:pPr>
              <a:endParaRPr lang="en-US"/>
            </a:p>
          </c:txPr>
        </c:title>
        <c:numFmt formatCode="General" sourceLinked="1"/>
        <c:majorTickMark val="none"/>
        <c:minorTickMark val="none"/>
        <c:tickLblPos val="nextTo"/>
        <c:spPr>
          <a:noFill/>
          <a:ln w="12700" cap="flat" cmpd="sng" algn="ctr">
            <a:solidFill>
              <a:schemeClr val="lt1"/>
            </a:solidFill>
            <a:round/>
          </a:ln>
          <a:effectLst/>
        </c:spPr>
        <c:txPr>
          <a:bodyPr rot="-60000000" spcFirstLastPara="1" vertOverflow="ellipsis" vert="horz" wrap="square" anchor="ctr" anchorCtr="1"/>
          <a:lstStyle/>
          <a:p>
            <a:pPr>
              <a:defRPr sz="900" b="0" i="0" u="none" strike="noStrike" kern="1200" spc="100" baseline="0">
                <a:solidFill>
                  <a:schemeClr val="lt1"/>
                </a:solidFill>
                <a:latin typeface="+mn-lt"/>
                <a:ea typeface="+mn-ea"/>
                <a:cs typeface="+mn-cs"/>
              </a:defRPr>
            </a:pPr>
            <a:endParaRPr lang="en-US"/>
          </a:p>
        </c:txPr>
        <c:crossAx val="1502992543"/>
        <c:crosses val="autoZero"/>
        <c:auto val="1"/>
        <c:lblAlgn val="ctr"/>
        <c:lblOffset val="100"/>
        <c:noMultiLvlLbl val="0"/>
      </c:catAx>
      <c:valAx>
        <c:axId val="1502992543"/>
        <c:scaling>
          <c:orientation val="minMax"/>
        </c:scaling>
        <c:delete val="0"/>
        <c:axPos val="l"/>
        <c:title>
          <c:tx>
            <c:rich>
              <a:bodyPr rot="-5400000" spcFirstLastPara="1" vertOverflow="ellipsis" vert="horz" wrap="square" anchor="ctr" anchorCtr="1"/>
              <a:lstStyle/>
              <a:p>
                <a:pPr>
                  <a:defRPr sz="900" b="1" i="0" u="none" strike="noStrike" kern="1200" baseline="0">
                    <a:solidFill>
                      <a:schemeClr val="lt1"/>
                    </a:solidFill>
                    <a:latin typeface="+mn-lt"/>
                    <a:ea typeface="+mn-ea"/>
                    <a:cs typeface="+mn-cs"/>
                  </a:defRPr>
                </a:pPr>
                <a:r>
                  <a:rPr lang="en-US"/>
                  <a:t>No of Closed  Company</a:t>
                </a:r>
              </a:p>
            </c:rich>
          </c:tx>
          <c:overlay val="0"/>
          <c:spPr>
            <a:noFill/>
            <a:ln>
              <a:noFill/>
            </a:ln>
            <a:effectLst/>
          </c:spPr>
          <c:txPr>
            <a:bodyPr rot="-5400000" spcFirstLastPara="1" vertOverflow="ellipsis" vert="horz" wrap="square" anchor="ctr" anchorCtr="1"/>
            <a:lstStyle/>
            <a:p>
              <a:pPr>
                <a:defRPr sz="900" b="1" i="0" u="none" strike="noStrike" kern="1200" baseline="0">
                  <a:solidFill>
                    <a:schemeClr val="lt1"/>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solidFill>
                <a:latin typeface="+mn-lt"/>
                <a:ea typeface="+mn-ea"/>
                <a:cs typeface="+mn-cs"/>
              </a:defRPr>
            </a:pPr>
            <a:endParaRPr lang="en-US"/>
          </a:p>
        </c:txPr>
        <c:crossAx val="150299014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1"/>
    </a:solidFill>
    <a:ln w="9525" cap="flat" cmpd="sng" algn="ctr">
      <a:solidFill>
        <a:schemeClr val="accent1"/>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[Upcoming Interview Task.xlsx]Pivot Table!PivotTable5</c:name>
    <c:fmtId val="8"/>
  </c:pivotSource>
  <c:chart>
    <c:title>
      <c:tx>
        <c:rich>
          <a:bodyPr rot="0" spcFirstLastPara="1" vertOverflow="ellipsis" vert="horz" wrap="square" anchor="ctr" anchorCtr="1"/>
          <a:lstStyle/>
          <a:p>
            <a:pPr>
              <a:defRPr sz="1995" b="1" i="0" u="none" strike="noStrike" kern="1200" cap="all" spc="100" normalizeH="0" baseline="0">
                <a:solidFill>
                  <a:schemeClr val="lt1"/>
                </a:solidFill>
                <a:latin typeface="+mn-lt"/>
                <a:ea typeface="+mn-ea"/>
                <a:cs typeface="+mn-cs"/>
              </a:defRPr>
            </a:pPr>
            <a:r>
              <a:rPr lang="en-US"/>
              <a:t>Company Incorporation Over the Years</a:t>
            </a:r>
          </a:p>
        </c:rich>
      </c:tx>
      <c:overlay val="0"/>
      <c:spPr>
        <a:noFill/>
        <a:ln>
          <a:noFill/>
        </a:ln>
        <a:effectLst/>
      </c:spPr>
      <c:txPr>
        <a:bodyPr rot="0" spcFirstLastPara="1" vertOverflow="ellipsis" vert="horz" wrap="square" anchor="ctr" anchorCtr="1"/>
        <a:lstStyle/>
        <a:p>
          <a:pPr>
            <a:defRPr sz="1995" b="1" i="0" u="none" strike="noStrike" kern="1200" cap="all" spc="100" normalizeH="0" baseline="0">
              <a:solidFill>
                <a:schemeClr val="lt1"/>
              </a:solidFill>
              <a:latin typeface="+mn-lt"/>
              <a:ea typeface="+mn-ea"/>
              <a:cs typeface="+mn-cs"/>
            </a:defRPr>
          </a:pPr>
          <a:endParaRPr lang="en-US"/>
        </a:p>
      </c:txPr>
    </c:title>
    <c:autoTitleDeleted val="0"/>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pattFill prst="ltUpDiag">
            <a:fgClr>
              <a:schemeClr val="accent1"/>
            </a:fgClr>
            <a:bgClr>
              <a:schemeClr val="lt1"/>
            </a:bgClr>
          </a:patt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'Pivot Table'!$C$95</c:f>
              <c:strCache>
                <c:ptCount val="1"/>
                <c:pt idx="0">
                  <c:v>Total</c:v>
                </c:pt>
              </c:strCache>
            </c:strRef>
          </c:tx>
          <c:spPr>
            <a:ln w="34925" cap="rnd">
              <a:solidFill>
                <a:schemeClr val="lt1"/>
              </a:solidFill>
              <a:round/>
            </a:ln>
            <a:effectLst>
              <a:outerShdw dist="25400" dir="2700000" algn="tl" rotWithShape="0">
                <a:schemeClr val="accent1"/>
              </a:outerShdw>
            </a:effectLst>
          </c:spPr>
          <c:marker>
            <c:symbol val="none"/>
          </c:marker>
          <c:cat>
            <c:strRef>
              <c:f>'Pivot Table'!$B$96:$B$223</c:f>
              <c:strCache>
                <c:ptCount val="127"/>
                <c:pt idx="0">
                  <c:v>1870</c:v>
                </c:pt>
                <c:pt idx="1">
                  <c:v>1887</c:v>
                </c:pt>
                <c:pt idx="2">
                  <c:v>1891</c:v>
                </c:pt>
                <c:pt idx="3">
                  <c:v>1896</c:v>
                </c:pt>
                <c:pt idx="4">
                  <c:v>1898</c:v>
                </c:pt>
                <c:pt idx="5">
                  <c:v>1899</c:v>
                </c:pt>
                <c:pt idx="6">
                  <c:v>1902</c:v>
                </c:pt>
                <c:pt idx="7">
                  <c:v>1903</c:v>
                </c:pt>
                <c:pt idx="8">
                  <c:v>1905</c:v>
                </c:pt>
                <c:pt idx="9">
                  <c:v>1906</c:v>
                </c:pt>
                <c:pt idx="10">
                  <c:v>1907</c:v>
                </c:pt>
                <c:pt idx="11">
                  <c:v>1909</c:v>
                </c:pt>
                <c:pt idx="12">
                  <c:v>1911</c:v>
                </c:pt>
                <c:pt idx="13">
                  <c:v>1912</c:v>
                </c:pt>
                <c:pt idx="14">
                  <c:v>1913</c:v>
                </c:pt>
                <c:pt idx="15">
                  <c:v>1914</c:v>
                </c:pt>
                <c:pt idx="16">
                  <c:v>1915</c:v>
                </c:pt>
                <c:pt idx="17">
                  <c:v>1916</c:v>
                </c:pt>
                <c:pt idx="18">
                  <c:v>1917</c:v>
                </c:pt>
                <c:pt idx="19">
                  <c:v>1918</c:v>
                </c:pt>
                <c:pt idx="20">
                  <c:v>1919</c:v>
                </c:pt>
                <c:pt idx="21">
                  <c:v>1920</c:v>
                </c:pt>
                <c:pt idx="22">
                  <c:v>1921</c:v>
                </c:pt>
                <c:pt idx="23">
                  <c:v>1922</c:v>
                </c:pt>
                <c:pt idx="24">
                  <c:v>1923</c:v>
                </c:pt>
                <c:pt idx="25">
                  <c:v>1924</c:v>
                </c:pt>
                <c:pt idx="26">
                  <c:v>1925</c:v>
                </c:pt>
                <c:pt idx="27">
                  <c:v>1926</c:v>
                </c:pt>
                <c:pt idx="28">
                  <c:v>1927</c:v>
                </c:pt>
                <c:pt idx="29">
                  <c:v>1928</c:v>
                </c:pt>
                <c:pt idx="30">
                  <c:v>1929</c:v>
                </c:pt>
                <c:pt idx="31">
                  <c:v>1930</c:v>
                </c:pt>
                <c:pt idx="32">
                  <c:v>1931</c:v>
                </c:pt>
                <c:pt idx="33">
                  <c:v>1932</c:v>
                </c:pt>
                <c:pt idx="34">
                  <c:v>1933</c:v>
                </c:pt>
                <c:pt idx="35">
                  <c:v>1934</c:v>
                </c:pt>
                <c:pt idx="36">
                  <c:v>1935</c:v>
                </c:pt>
                <c:pt idx="37">
                  <c:v>1936</c:v>
                </c:pt>
                <c:pt idx="38">
                  <c:v>1937</c:v>
                </c:pt>
                <c:pt idx="39">
                  <c:v>1938</c:v>
                </c:pt>
                <c:pt idx="40">
                  <c:v>1939</c:v>
                </c:pt>
                <c:pt idx="41">
                  <c:v>1940</c:v>
                </c:pt>
                <c:pt idx="42">
                  <c:v>1941</c:v>
                </c:pt>
                <c:pt idx="43">
                  <c:v>1942</c:v>
                </c:pt>
                <c:pt idx="44">
                  <c:v>1943</c:v>
                </c:pt>
                <c:pt idx="45">
                  <c:v>1944</c:v>
                </c:pt>
                <c:pt idx="46">
                  <c:v>1945</c:v>
                </c:pt>
                <c:pt idx="47">
                  <c:v>1946</c:v>
                </c:pt>
                <c:pt idx="48">
                  <c:v>1947</c:v>
                </c:pt>
                <c:pt idx="49">
                  <c:v>1948</c:v>
                </c:pt>
                <c:pt idx="50">
                  <c:v>1949</c:v>
                </c:pt>
                <c:pt idx="51">
                  <c:v>1950</c:v>
                </c:pt>
                <c:pt idx="52">
                  <c:v>1951</c:v>
                </c:pt>
                <c:pt idx="53">
                  <c:v>1952</c:v>
                </c:pt>
                <c:pt idx="54">
                  <c:v>1953</c:v>
                </c:pt>
                <c:pt idx="55">
                  <c:v>1954</c:v>
                </c:pt>
                <c:pt idx="56">
                  <c:v>1955</c:v>
                </c:pt>
                <c:pt idx="57">
                  <c:v>1956</c:v>
                </c:pt>
                <c:pt idx="58">
                  <c:v>1957</c:v>
                </c:pt>
                <c:pt idx="59">
                  <c:v>1958</c:v>
                </c:pt>
                <c:pt idx="60">
                  <c:v>1959</c:v>
                </c:pt>
                <c:pt idx="61">
                  <c:v>1960</c:v>
                </c:pt>
                <c:pt idx="62">
                  <c:v>1961</c:v>
                </c:pt>
                <c:pt idx="63">
                  <c:v>1962</c:v>
                </c:pt>
                <c:pt idx="64">
                  <c:v>1963</c:v>
                </c:pt>
                <c:pt idx="65">
                  <c:v>1964</c:v>
                </c:pt>
                <c:pt idx="66">
                  <c:v>1965</c:v>
                </c:pt>
                <c:pt idx="67">
                  <c:v>1966</c:v>
                </c:pt>
                <c:pt idx="68">
                  <c:v>1967</c:v>
                </c:pt>
                <c:pt idx="69">
                  <c:v>1968</c:v>
                </c:pt>
                <c:pt idx="70">
                  <c:v>1969</c:v>
                </c:pt>
                <c:pt idx="71">
                  <c:v>1970</c:v>
                </c:pt>
                <c:pt idx="72">
                  <c:v>1971</c:v>
                </c:pt>
                <c:pt idx="73">
                  <c:v>1972</c:v>
                </c:pt>
                <c:pt idx="74">
                  <c:v>1973</c:v>
                </c:pt>
                <c:pt idx="75">
                  <c:v>1974</c:v>
                </c:pt>
                <c:pt idx="76">
                  <c:v>1975</c:v>
                </c:pt>
                <c:pt idx="77">
                  <c:v>1976</c:v>
                </c:pt>
                <c:pt idx="78">
                  <c:v>1977</c:v>
                </c:pt>
                <c:pt idx="79">
                  <c:v>1978</c:v>
                </c:pt>
                <c:pt idx="80">
                  <c:v>1979</c:v>
                </c:pt>
                <c:pt idx="81">
                  <c:v>1980</c:v>
                </c:pt>
                <c:pt idx="82">
                  <c:v>1981</c:v>
                </c:pt>
                <c:pt idx="83">
                  <c:v>1982</c:v>
                </c:pt>
                <c:pt idx="84">
                  <c:v>1983</c:v>
                </c:pt>
                <c:pt idx="85">
                  <c:v>1984</c:v>
                </c:pt>
                <c:pt idx="86">
                  <c:v>1985</c:v>
                </c:pt>
                <c:pt idx="87">
                  <c:v>1986</c:v>
                </c:pt>
                <c:pt idx="88">
                  <c:v>1987</c:v>
                </c:pt>
                <c:pt idx="89">
                  <c:v>1988</c:v>
                </c:pt>
                <c:pt idx="90">
                  <c:v>1989</c:v>
                </c:pt>
                <c:pt idx="91">
                  <c:v>1990</c:v>
                </c:pt>
                <c:pt idx="92">
                  <c:v>1991</c:v>
                </c:pt>
                <c:pt idx="93">
                  <c:v>1992</c:v>
                </c:pt>
                <c:pt idx="94">
                  <c:v>1993</c:v>
                </c:pt>
                <c:pt idx="95">
                  <c:v>1994</c:v>
                </c:pt>
                <c:pt idx="96">
                  <c:v>1995</c:v>
                </c:pt>
                <c:pt idx="97">
                  <c:v>1996</c:v>
                </c:pt>
                <c:pt idx="98">
                  <c:v>1997</c:v>
                </c:pt>
                <c:pt idx="99">
                  <c:v>1998</c:v>
                </c:pt>
                <c:pt idx="100">
                  <c:v>1999</c:v>
                </c:pt>
                <c:pt idx="101">
                  <c:v>2000</c:v>
                </c:pt>
                <c:pt idx="102">
                  <c:v>2001</c:v>
                </c:pt>
                <c:pt idx="103">
                  <c:v>2002</c:v>
                </c:pt>
                <c:pt idx="104">
                  <c:v>2003</c:v>
                </c:pt>
                <c:pt idx="105">
                  <c:v>2004</c:v>
                </c:pt>
                <c:pt idx="106">
                  <c:v>2005</c:v>
                </c:pt>
                <c:pt idx="107">
                  <c:v>2006</c:v>
                </c:pt>
                <c:pt idx="108">
                  <c:v>2007</c:v>
                </c:pt>
                <c:pt idx="109">
                  <c:v>2008</c:v>
                </c:pt>
                <c:pt idx="110">
                  <c:v>2009</c:v>
                </c:pt>
                <c:pt idx="111">
                  <c:v>2010</c:v>
                </c:pt>
                <c:pt idx="112">
                  <c:v>2011</c:v>
                </c:pt>
                <c:pt idx="113">
                  <c:v>2012</c:v>
                </c:pt>
                <c:pt idx="114">
                  <c:v>2013</c:v>
                </c:pt>
                <c:pt idx="115">
                  <c:v>2014</c:v>
                </c:pt>
                <c:pt idx="116">
                  <c:v>2015</c:v>
                </c:pt>
                <c:pt idx="117">
                  <c:v>2016</c:v>
                </c:pt>
                <c:pt idx="118">
                  <c:v>2017</c:v>
                </c:pt>
                <c:pt idx="119">
                  <c:v>2018</c:v>
                </c:pt>
                <c:pt idx="120">
                  <c:v>2019</c:v>
                </c:pt>
                <c:pt idx="121">
                  <c:v>2020</c:v>
                </c:pt>
                <c:pt idx="122">
                  <c:v>2021</c:v>
                </c:pt>
                <c:pt idx="123">
                  <c:v>2022</c:v>
                </c:pt>
                <c:pt idx="124">
                  <c:v>2023</c:v>
                </c:pt>
                <c:pt idx="125">
                  <c:v>2024</c:v>
                </c:pt>
                <c:pt idx="126">
                  <c:v>2025</c:v>
                </c:pt>
              </c:strCache>
            </c:strRef>
          </c:cat>
          <c:val>
            <c:numRef>
              <c:f>'Pivot Table'!$C$96:$C$223</c:f>
              <c:numCache>
                <c:formatCode>General</c:formatCode>
                <c:ptCount val="127"/>
                <c:pt idx="0">
                  <c:v>1</c:v>
                </c:pt>
                <c:pt idx="1">
                  <c:v>1</c:v>
                </c:pt>
                <c:pt idx="2">
                  <c:v>1</c:v>
                </c:pt>
                <c:pt idx="3">
                  <c:v>1</c:v>
                </c:pt>
                <c:pt idx="4">
                  <c:v>2</c:v>
                </c:pt>
                <c:pt idx="5">
                  <c:v>1</c:v>
                </c:pt>
                <c:pt idx="6">
                  <c:v>3</c:v>
                </c:pt>
                <c:pt idx="7">
                  <c:v>3</c:v>
                </c:pt>
                <c:pt idx="8">
                  <c:v>1</c:v>
                </c:pt>
                <c:pt idx="9">
                  <c:v>1</c:v>
                </c:pt>
                <c:pt idx="10">
                  <c:v>1</c:v>
                </c:pt>
                <c:pt idx="11">
                  <c:v>1</c:v>
                </c:pt>
                <c:pt idx="12">
                  <c:v>2</c:v>
                </c:pt>
                <c:pt idx="13">
                  <c:v>1</c:v>
                </c:pt>
                <c:pt idx="14">
                  <c:v>1</c:v>
                </c:pt>
                <c:pt idx="15">
                  <c:v>1</c:v>
                </c:pt>
                <c:pt idx="16">
                  <c:v>2</c:v>
                </c:pt>
                <c:pt idx="17">
                  <c:v>3</c:v>
                </c:pt>
                <c:pt idx="18">
                  <c:v>2</c:v>
                </c:pt>
                <c:pt idx="19">
                  <c:v>2</c:v>
                </c:pt>
                <c:pt idx="20">
                  <c:v>3</c:v>
                </c:pt>
                <c:pt idx="21">
                  <c:v>2</c:v>
                </c:pt>
                <c:pt idx="22">
                  <c:v>1</c:v>
                </c:pt>
                <c:pt idx="23">
                  <c:v>1</c:v>
                </c:pt>
                <c:pt idx="24">
                  <c:v>6</c:v>
                </c:pt>
                <c:pt idx="25">
                  <c:v>2</c:v>
                </c:pt>
                <c:pt idx="26">
                  <c:v>3</c:v>
                </c:pt>
                <c:pt idx="27">
                  <c:v>4</c:v>
                </c:pt>
                <c:pt idx="28">
                  <c:v>2</c:v>
                </c:pt>
                <c:pt idx="29">
                  <c:v>9</c:v>
                </c:pt>
                <c:pt idx="30">
                  <c:v>6</c:v>
                </c:pt>
                <c:pt idx="31">
                  <c:v>1</c:v>
                </c:pt>
                <c:pt idx="32">
                  <c:v>1</c:v>
                </c:pt>
                <c:pt idx="33">
                  <c:v>5</c:v>
                </c:pt>
                <c:pt idx="34">
                  <c:v>6</c:v>
                </c:pt>
                <c:pt idx="35">
                  <c:v>4</c:v>
                </c:pt>
                <c:pt idx="36">
                  <c:v>7</c:v>
                </c:pt>
                <c:pt idx="37">
                  <c:v>4</c:v>
                </c:pt>
                <c:pt idx="38">
                  <c:v>4</c:v>
                </c:pt>
                <c:pt idx="39">
                  <c:v>5</c:v>
                </c:pt>
                <c:pt idx="40">
                  <c:v>4</c:v>
                </c:pt>
                <c:pt idx="41">
                  <c:v>6</c:v>
                </c:pt>
                <c:pt idx="42">
                  <c:v>6</c:v>
                </c:pt>
                <c:pt idx="43">
                  <c:v>6</c:v>
                </c:pt>
                <c:pt idx="44">
                  <c:v>2</c:v>
                </c:pt>
                <c:pt idx="45">
                  <c:v>4</c:v>
                </c:pt>
                <c:pt idx="46">
                  <c:v>5</c:v>
                </c:pt>
                <c:pt idx="47">
                  <c:v>9</c:v>
                </c:pt>
                <c:pt idx="48">
                  <c:v>10</c:v>
                </c:pt>
                <c:pt idx="49">
                  <c:v>4</c:v>
                </c:pt>
                <c:pt idx="50">
                  <c:v>5</c:v>
                </c:pt>
                <c:pt idx="51">
                  <c:v>3</c:v>
                </c:pt>
                <c:pt idx="52">
                  <c:v>7</c:v>
                </c:pt>
                <c:pt idx="53">
                  <c:v>11</c:v>
                </c:pt>
                <c:pt idx="54">
                  <c:v>9</c:v>
                </c:pt>
                <c:pt idx="55">
                  <c:v>4</c:v>
                </c:pt>
                <c:pt idx="56">
                  <c:v>12</c:v>
                </c:pt>
                <c:pt idx="57">
                  <c:v>10</c:v>
                </c:pt>
                <c:pt idx="58">
                  <c:v>14</c:v>
                </c:pt>
                <c:pt idx="59">
                  <c:v>17</c:v>
                </c:pt>
                <c:pt idx="60">
                  <c:v>15</c:v>
                </c:pt>
                <c:pt idx="61">
                  <c:v>23</c:v>
                </c:pt>
                <c:pt idx="62">
                  <c:v>21</c:v>
                </c:pt>
                <c:pt idx="63">
                  <c:v>22</c:v>
                </c:pt>
                <c:pt idx="64">
                  <c:v>23</c:v>
                </c:pt>
                <c:pt idx="65">
                  <c:v>32</c:v>
                </c:pt>
                <c:pt idx="66">
                  <c:v>9</c:v>
                </c:pt>
                <c:pt idx="67">
                  <c:v>17</c:v>
                </c:pt>
                <c:pt idx="68">
                  <c:v>14</c:v>
                </c:pt>
                <c:pt idx="69">
                  <c:v>19</c:v>
                </c:pt>
                <c:pt idx="70">
                  <c:v>26</c:v>
                </c:pt>
                <c:pt idx="71">
                  <c:v>16</c:v>
                </c:pt>
                <c:pt idx="72">
                  <c:v>24</c:v>
                </c:pt>
                <c:pt idx="73">
                  <c:v>35</c:v>
                </c:pt>
                <c:pt idx="74">
                  <c:v>46</c:v>
                </c:pt>
                <c:pt idx="75">
                  <c:v>31</c:v>
                </c:pt>
                <c:pt idx="76">
                  <c:v>43</c:v>
                </c:pt>
                <c:pt idx="77">
                  <c:v>36</c:v>
                </c:pt>
                <c:pt idx="78">
                  <c:v>34</c:v>
                </c:pt>
                <c:pt idx="79">
                  <c:v>48</c:v>
                </c:pt>
                <c:pt idx="80">
                  <c:v>34</c:v>
                </c:pt>
                <c:pt idx="81">
                  <c:v>57</c:v>
                </c:pt>
                <c:pt idx="82">
                  <c:v>81</c:v>
                </c:pt>
                <c:pt idx="83">
                  <c:v>88</c:v>
                </c:pt>
                <c:pt idx="84">
                  <c:v>72</c:v>
                </c:pt>
                <c:pt idx="85">
                  <c:v>99</c:v>
                </c:pt>
                <c:pt idx="86">
                  <c:v>93</c:v>
                </c:pt>
                <c:pt idx="87">
                  <c:v>119</c:v>
                </c:pt>
                <c:pt idx="88">
                  <c:v>103</c:v>
                </c:pt>
                <c:pt idx="89">
                  <c:v>111</c:v>
                </c:pt>
                <c:pt idx="90">
                  <c:v>120</c:v>
                </c:pt>
                <c:pt idx="91">
                  <c:v>114</c:v>
                </c:pt>
                <c:pt idx="92">
                  <c:v>116</c:v>
                </c:pt>
                <c:pt idx="93">
                  <c:v>125</c:v>
                </c:pt>
                <c:pt idx="94">
                  <c:v>137</c:v>
                </c:pt>
                <c:pt idx="95">
                  <c:v>144</c:v>
                </c:pt>
                <c:pt idx="96">
                  <c:v>202</c:v>
                </c:pt>
                <c:pt idx="97">
                  <c:v>206</c:v>
                </c:pt>
                <c:pt idx="98">
                  <c:v>250</c:v>
                </c:pt>
                <c:pt idx="99">
                  <c:v>274</c:v>
                </c:pt>
                <c:pt idx="100">
                  <c:v>314</c:v>
                </c:pt>
                <c:pt idx="101">
                  <c:v>350</c:v>
                </c:pt>
                <c:pt idx="102">
                  <c:v>362</c:v>
                </c:pt>
                <c:pt idx="103">
                  <c:v>501</c:v>
                </c:pt>
                <c:pt idx="104">
                  <c:v>723</c:v>
                </c:pt>
                <c:pt idx="105">
                  <c:v>565</c:v>
                </c:pt>
                <c:pt idx="106">
                  <c:v>628</c:v>
                </c:pt>
                <c:pt idx="107">
                  <c:v>634</c:v>
                </c:pt>
                <c:pt idx="108">
                  <c:v>719</c:v>
                </c:pt>
                <c:pt idx="109">
                  <c:v>674</c:v>
                </c:pt>
                <c:pt idx="110">
                  <c:v>702</c:v>
                </c:pt>
                <c:pt idx="111">
                  <c:v>861</c:v>
                </c:pt>
                <c:pt idx="112">
                  <c:v>986</c:v>
                </c:pt>
                <c:pt idx="113">
                  <c:v>1142</c:v>
                </c:pt>
                <c:pt idx="114">
                  <c:v>1322</c:v>
                </c:pt>
                <c:pt idx="115">
                  <c:v>1519</c:v>
                </c:pt>
                <c:pt idx="116">
                  <c:v>1756</c:v>
                </c:pt>
                <c:pt idx="117">
                  <c:v>1924</c:v>
                </c:pt>
                <c:pt idx="118">
                  <c:v>2143</c:v>
                </c:pt>
                <c:pt idx="119">
                  <c:v>2502</c:v>
                </c:pt>
                <c:pt idx="120">
                  <c:v>2989</c:v>
                </c:pt>
                <c:pt idx="121">
                  <c:v>3082</c:v>
                </c:pt>
                <c:pt idx="122">
                  <c:v>3435</c:v>
                </c:pt>
                <c:pt idx="123">
                  <c:v>3893</c:v>
                </c:pt>
                <c:pt idx="124">
                  <c:v>6269</c:v>
                </c:pt>
                <c:pt idx="125">
                  <c:v>6653</c:v>
                </c:pt>
                <c:pt idx="126">
                  <c:v>12</c:v>
                </c:pt>
              </c:numCache>
            </c:numRef>
          </c:val>
          <c:smooth val="0"/>
          <c:extLst>
            <c:ext xmlns:c16="http://schemas.microsoft.com/office/drawing/2014/chart" uri="{C3380CC4-5D6E-409C-BE32-E72D297353CC}">
              <c16:uniqueId val="{00000000-0526-4925-8FA8-4370714F8645}"/>
            </c:ext>
          </c:extLst>
        </c:ser>
        <c:dLbls>
          <c:showLegendKey val="0"/>
          <c:showVal val="0"/>
          <c:showCatName val="0"/>
          <c:showSerName val="0"/>
          <c:showPercent val="0"/>
          <c:showBubbleSize val="0"/>
        </c:dLbls>
        <c:dropLines>
          <c:spPr>
            <a:ln w="9525" cap="flat" cmpd="sng" algn="ctr">
              <a:gradFill>
                <a:gsLst>
                  <a:gs pos="0">
                    <a:schemeClr val="lt1"/>
                  </a:gs>
                  <a:gs pos="100000">
                    <a:schemeClr val="lt1">
                      <a:alpha val="0"/>
                    </a:schemeClr>
                  </a:gs>
                </a:gsLst>
                <a:lin ang="5400000" scaled="0"/>
              </a:gradFill>
              <a:round/>
            </a:ln>
            <a:effectLst/>
          </c:spPr>
        </c:dropLines>
        <c:smooth val="0"/>
        <c:axId val="1662406335"/>
        <c:axId val="1662414975"/>
      </c:lineChart>
      <c:catAx>
        <c:axId val="1662406335"/>
        <c:scaling>
          <c:orientation val="minMax"/>
        </c:scaling>
        <c:delete val="0"/>
        <c:axPos val="b"/>
        <c:title>
          <c:tx>
            <c:rich>
              <a:bodyPr rot="0" spcFirstLastPara="1" vertOverflow="ellipsis" vert="horz" wrap="square" anchor="ctr" anchorCtr="1"/>
              <a:lstStyle/>
              <a:p>
                <a:pPr>
                  <a:defRPr sz="1197" b="1" i="0" u="none" strike="noStrike" kern="1200" baseline="0">
                    <a:solidFill>
                      <a:schemeClr val="lt1"/>
                    </a:solidFill>
                    <a:latin typeface="+mn-lt"/>
                    <a:ea typeface="+mn-ea"/>
                    <a:cs typeface="+mn-cs"/>
                  </a:defRPr>
                </a:pPr>
                <a:r>
                  <a:rPr lang="en-US"/>
                  <a:t>Years Incorporated</a:t>
                </a:r>
              </a:p>
            </c:rich>
          </c:tx>
          <c:overlay val="0"/>
          <c:spPr>
            <a:noFill/>
            <a:ln>
              <a:noFill/>
            </a:ln>
            <a:effectLst/>
          </c:spPr>
          <c:txPr>
            <a:bodyPr rot="0" spcFirstLastPara="1" vertOverflow="ellipsis" vert="horz" wrap="square" anchor="ctr" anchorCtr="1"/>
            <a:lstStyle/>
            <a:p>
              <a:pPr>
                <a:defRPr sz="1197" b="1" i="0" u="none" strike="noStrike" kern="1200" baseline="0">
                  <a:solidFill>
                    <a:schemeClr val="lt1"/>
                  </a:solidFill>
                  <a:latin typeface="+mn-lt"/>
                  <a:ea typeface="+mn-ea"/>
                  <a:cs typeface="+mn-cs"/>
                </a:defRPr>
              </a:pPr>
              <a:endParaRPr lang="en-US"/>
            </a:p>
          </c:txPr>
        </c:title>
        <c:numFmt formatCode="General" sourceLinked="1"/>
        <c:majorTickMark val="none"/>
        <c:minorTickMark val="none"/>
        <c:tickLblPos val="nextTo"/>
        <c:spPr>
          <a:noFill/>
          <a:ln w="12700" cap="flat" cmpd="sng" algn="ctr">
            <a:solidFill>
              <a:schemeClr val="lt1"/>
            </a:solidFill>
            <a:round/>
          </a:ln>
          <a:effectLst/>
        </c:spPr>
        <c:txPr>
          <a:bodyPr rot="-60000000" spcFirstLastPara="1" vertOverflow="ellipsis" vert="horz" wrap="square" anchor="ctr" anchorCtr="1"/>
          <a:lstStyle/>
          <a:p>
            <a:pPr>
              <a:defRPr sz="1197" b="0" i="0" u="none" strike="noStrike" kern="1200" spc="100" baseline="0">
                <a:solidFill>
                  <a:schemeClr val="lt1"/>
                </a:solidFill>
                <a:latin typeface="+mn-lt"/>
                <a:ea typeface="+mn-ea"/>
                <a:cs typeface="+mn-cs"/>
              </a:defRPr>
            </a:pPr>
            <a:endParaRPr lang="en-US"/>
          </a:p>
        </c:txPr>
        <c:crossAx val="1662414975"/>
        <c:crosses val="autoZero"/>
        <c:auto val="1"/>
        <c:lblAlgn val="ctr"/>
        <c:lblOffset val="100"/>
        <c:noMultiLvlLbl val="0"/>
      </c:catAx>
      <c:valAx>
        <c:axId val="1662414975"/>
        <c:scaling>
          <c:orientation val="minMax"/>
        </c:scaling>
        <c:delete val="0"/>
        <c:axPos val="l"/>
        <c:title>
          <c:tx>
            <c:rich>
              <a:bodyPr rot="-5400000" spcFirstLastPara="1" vertOverflow="ellipsis" vert="horz" wrap="square" anchor="ctr" anchorCtr="1"/>
              <a:lstStyle/>
              <a:p>
                <a:pPr>
                  <a:defRPr sz="1197" b="1" i="0" u="none" strike="noStrike" kern="1200" baseline="0">
                    <a:solidFill>
                      <a:schemeClr val="lt1"/>
                    </a:solidFill>
                    <a:latin typeface="+mn-lt"/>
                    <a:ea typeface="+mn-ea"/>
                    <a:cs typeface="+mn-cs"/>
                  </a:defRPr>
                </a:pPr>
                <a:r>
                  <a:rPr lang="en-US"/>
                  <a:t>No of Companys</a:t>
                </a:r>
              </a:p>
            </c:rich>
          </c:tx>
          <c:layout>
            <c:manualLayout>
              <c:xMode val="edge"/>
              <c:yMode val="edge"/>
              <c:x val="3.7849446983545379E-2"/>
              <c:y val="0.3300560419530385"/>
            </c:manualLayout>
          </c:layout>
          <c:overlay val="0"/>
          <c:spPr>
            <a:noFill/>
            <a:ln>
              <a:noFill/>
            </a:ln>
            <a:effectLst/>
          </c:spPr>
          <c:txPr>
            <a:bodyPr rot="-5400000" spcFirstLastPara="1" vertOverflow="ellipsis" vert="horz" wrap="square" anchor="ctr" anchorCtr="1"/>
            <a:lstStyle/>
            <a:p>
              <a:pPr>
                <a:defRPr sz="1197" b="1" i="0" u="none" strike="noStrike" kern="1200" baseline="0">
                  <a:solidFill>
                    <a:schemeClr val="lt1"/>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solidFill>
                <a:latin typeface="+mn-lt"/>
                <a:ea typeface="+mn-ea"/>
                <a:cs typeface="+mn-cs"/>
              </a:defRPr>
            </a:pPr>
            <a:endParaRPr lang="en-US"/>
          </a:p>
        </c:txPr>
        <c:crossAx val="166240633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1"/>
    </a:solidFill>
    <a:ln w="9525" cap="flat" cmpd="sng" algn="ctr">
      <a:solidFill>
        <a:schemeClr val="accent1"/>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[Upcoming Interview Task.xlsx]Pivot Table!PivotTable21</c:name>
    <c:fmtId val="45"/>
  </c:pivotSource>
  <c:chart>
    <c:title>
      <c:tx>
        <c:rich>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Top 7 Geographical Location Based on Active Company</a:t>
            </a:r>
          </a:p>
          <a:p>
            <a:pPr>
              <a:defRPr/>
            </a:pPr>
            <a:endParaRPr lang="en-US"/>
          </a:p>
        </c:rich>
      </c:tx>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solidFill>
            <a:schemeClr val="accent1"/>
          </a:solidFill>
          <a:ln>
            <a:noFill/>
          </a:ln>
          <a:effectLst/>
          <a:sp3d/>
        </c:spPr>
        <c:marker>
          <c:symbol val="circle"/>
          <c:size val="8"/>
          <c:spPr>
            <a:solidFill>
              <a:schemeClr val="accent1"/>
            </a:solidFill>
            <a:ln w="9525">
              <a:no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'Pivot Table'!$C$322</c:f>
              <c:strCache>
                <c:ptCount val="1"/>
                <c:pt idx="0">
                  <c:v>Total</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'Pivot Table'!$B$323:$B$330</c:f>
              <c:strCache>
                <c:ptCount val="7"/>
                <c:pt idx="0">
                  <c:v>United Kingdom</c:v>
                </c:pt>
                <c:pt idx="1">
                  <c:v>Jersey</c:v>
                </c:pt>
                <c:pt idx="2">
                  <c:v>Virgin Islands, British</c:v>
                </c:pt>
                <c:pt idx="3">
                  <c:v>United States</c:v>
                </c:pt>
                <c:pt idx="4">
                  <c:v>Guernsey</c:v>
                </c:pt>
                <c:pt idx="5">
                  <c:v>Isle Of Man</c:v>
                </c:pt>
                <c:pt idx="6">
                  <c:v>Ireland</c:v>
                </c:pt>
              </c:strCache>
            </c:strRef>
          </c:cat>
          <c:val>
            <c:numRef>
              <c:f>'Pivot Table'!$C$323:$C$330</c:f>
              <c:numCache>
                <c:formatCode>General</c:formatCode>
                <c:ptCount val="7"/>
                <c:pt idx="0">
                  <c:v>45293</c:v>
                </c:pt>
                <c:pt idx="1">
                  <c:v>78</c:v>
                </c:pt>
                <c:pt idx="2">
                  <c:v>75</c:v>
                </c:pt>
                <c:pt idx="3">
                  <c:v>35</c:v>
                </c:pt>
                <c:pt idx="4">
                  <c:v>26</c:v>
                </c:pt>
                <c:pt idx="5">
                  <c:v>24</c:v>
                </c:pt>
                <c:pt idx="6">
                  <c:v>16</c:v>
                </c:pt>
              </c:numCache>
            </c:numRef>
          </c:val>
          <c:extLst>
            <c:ext xmlns:c16="http://schemas.microsoft.com/office/drawing/2014/chart" uri="{C3380CC4-5D6E-409C-BE32-E72D297353CC}">
              <c16:uniqueId val="{00000000-390C-40E9-B09A-DCEB8715CEA7}"/>
            </c:ext>
          </c:extLst>
        </c:ser>
        <c:dLbls>
          <c:showLegendKey val="0"/>
          <c:showVal val="1"/>
          <c:showCatName val="0"/>
          <c:showSerName val="0"/>
          <c:showPercent val="0"/>
          <c:showBubbleSize val="0"/>
        </c:dLbls>
        <c:gapWidth val="150"/>
        <c:shape val="box"/>
        <c:axId val="1937977967"/>
        <c:axId val="1937976527"/>
        <c:axId val="0"/>
      </c:bar3DChart>
      <c:catAx>
        <c:axId val="1937977967"/>
        <c:scaling>
          <c:orientation val="minMax"/>
        </c:scaling>
        <c:delete val="0"/>
        <c:axPos val="b"/>
        <c:title>
          <c:tx>
            <c:rich>
              <a:bodyPr rot="0" spcFirstLastPara="1" vertOverflow="ellipsis" vert="horz" wrap="square" anchor="ctr" anchorCtr="1"/>
              <a:lstStyle/>
              <a:p>
                <a:pPr>
                  <a:defRPr sz="1197" b="1" i="0" u="none" strike="noStrike" kern="1200" cap="all" baseline="0">
                    <a:solidFill>
                      <a:schemeClr val="lt1">
                        <a:lumMod val="85000"/>
                      </a:schemeClr>
                    </a:solidFill>
                    <a:latin typeface="+mn-lt"/>
                    <a:ea typeface="+mn-ea"/>
                    <a:cs typeface="+mn-cs"/>
                  </a:defRPr>
                </a:pPr>
                <a:r>
                  <a:rPr lang="en-US"/>
                  <a:t>Geographical Location</a:t>
                </a:r>
              </a:p>
            </c:rich>
          </c:tx>
          <c:overlay val="0"/>
          <c:spPr>
            <a:noFill/>
            <a:ln>
              <a:noFill/>
            </a:ln>
            <a:effectLst/>
          </c:spPr>
          <c:txPr>
            <a:bodyPr rot="0" spcFirstLastPara="1" vertOverflow="ellipsis" vert="horz" wrap="square" anchor="ctr" anchorCtr="1"/>
            <a:lstStyle/>
            <a:p>
              <a:pPr>
                <a:defRPr sz="1197" b="1" i="0" u="none" strike="noStrike" kern="1200" cap="all" baseline="0">
                  <a:solidFill>
                    <a:schemeClr val="lt1">
                      <a:lumMod val="8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1937976527"/>
        <c:crosses val="autoZero"/>
        <c:auto val="1"/>
        <c:lblAlgn val="ctr"/>
        <c:lblOffset val="100"/>
        <c:noMultiLvlLbl val="0"/>
      </c:catAx>
      <c:valAx>
        <c:axId val="1937976527"/>
        <c:scaling>
          <c:orientation val="minMax"/>
        </c:scaling>
        <c:delete val="0"/>
        <c:axPos val="l"/>
        <c:majorGridlines>
          <c:spPr>
            <a:ln w="9525" cap="flat" cmpd="sng" algn="ctr">
              <a:solidFill>
                <a:schemeClr val="dk1">
                  <a:lumMod val="50000"/>
                  <a:lumOff val="50000"/>
                </a:schemeClr>
              </a:solidFill>
              <a:round/>
            </a:ln>
            <a:effectLst/>
          </c:spPr>
        </c:majorGridlines>
        <c:title>
          <c:tx>
            <c:rich>
              <a:bodyPr rot="-5400000" spcFirstLastPara="1" vertOverflow="ellipsis" vert="horz" wrap="square" anchor="ctr" anchorCtr="1"/>
              <a:lstStyle/>
              <a:p>
                <a:pPr>
                  <a:defRPr sz="1197" b="1" i="0" u="none" strike="noStrike" kern="1200" cap="all" baseline="0">
                    <a:solidFill>
                      <a:schemeClr val="lt1">
                        <a:lumMod val="85000"/>
                      </a:schemeClr>
                    </a:solidFill>
                    <a:latin typeface="+mn-lt"/>
                    <a:ea typeface="+mn-ea"/>
                    <a:cs typeface="+mn-cs"/>
                  </a:defRPr>
                </a:pPr>
                <a:r>
                  <a:rPr lang="en-US"/>
                  <a:t>No of active company</a:t>
                </a:r>
              </a:p>
            </c:rich>
          </c:tx>
          <c:overlay val="0"/>
          <c:spPr>
            <a:noFill/>
            <a:ln>
              <a:noFill/>
            </a:ln>
            <a:effectLst/>
          </c:spPr>
          <c:txPr>
            <a:bodyPr rot="-5400000" spcFirstLastPara="1" vertOverflow="ellipsis" vert="horz" wrap="square" anchor="ctr" anchorCtr="1"/>
            <a:lstStyle/>
            <a:p>
              <a:pPr>
                <a:defRPr sz="1197" b="1" i="0" u="none" strike="noStrike" kern="1200" cap="all" baseline="0">
                  <a:solidFill>
                    <a:schemeClr val="lt1">
                      <a:lumMod val="8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1937977967"/>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sVisible val="1"/>
      </c14:pivotOptions>
    </c:ext>
    <c:ext xmlns:c16="http://schemas.microsoft.com/office/drawing/2014/chart" uri="{E28EC0CA-F0BB-4C9C-879D-F8772B89E7AC}">
      <c16:pivotOptions16>
        <c16:showExpandCollapseFieldButtons val="1"/>
      </c16:pivotOptions16>
    </c:ext>
  </c:extLst>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Data_Summary!$B$2:$B$12</cx:f>
        <cx:lvl ptCount="11">
          <cx:pt idx="0">Construction</cx:pt>
          <cx:pt idx="1">Farming</cx:pt>
          <cx:pt idx="2">Education</cx:pt>
          <cx:pt idx="3">Transport and Logistics</cx:pt>
          <cx:pt idx="4">Maintenance and Repair</cx:pt>
          <cx:pt idx="5">Retail</cx:pt>
          <cx:pt idx="6">Other</cx:pt>
          <cx:pt idx="7">Consultancy</cx:pt>
          <cx:pt idx="8">Manufacturing</cx:pt>
          <cx:pt idx="9">Healthcare</cx:pt>
        </cx:lvl>
      </cx:strDim>
      <cx:numDim type="val">
        <cx:f>Data_Summary!$M$2:$M$12</cx:f>
        <cx:lvl ptCount="11" formatCode="0.00%">
          <cx:pt idx="0">0.057922450717233502</cx:pt>
          <cx:pt idx="1">0.059517256386237644</cx:pt>
          <cx:pt idx="2">0.063233967897147747</cx:pt>
          <cx:pt idx="3">0.081579291152924768</cx:pt>
          <cx:pt idx="4">0.1272681732053991</cx:pt>
          <cx:pt idx="5">0.14834608978873853</cx:pt>
          <cx:pt idx="6">0.271165047862162</cx:pt>
          <cx:pt idx="7">0.33332230243120081</cx:pt>
          <cx:pt idx="8">0.33373181410999608</cx:pt>
          <cx:pt idx="9">0.34400554390748345</cx:pt>
        </cx:lvl>
      </cx:numDim>
    </cx:data>
    <cx:data id="1">
      <cx:strDim type="cat">
        <cx:f>Data_Summary!$B$2:$B$12</cx:f>
        <cx:lvl ptCount="11">
          <cx:pt idx="0">Construction</cx:pt>
          <cx:pt idx="1">Farming</cx:pt>
          <cx:pt idx="2">Education</cx:pt>
          <cx:pt idx="3">Transport and Logistics</cx:pt>
          <cx:pt idx="4">Maintenance and Repair</cx:pt>
          <cx:pt idx="5">Retail</cx:pt>
          <cx:pt idx="6">Other</cx:pt>
          <cx:pt idx="7">Consultancy</cx:pt>
          <cx:pt idx="8">Manufacturing</cx:pt>
          <cx:pt idx="9">Healthcare</cx:pt>
        </cx:lvl>
      </cx:strDim>
      <cx:numDim type="val">
        <cx:f>Data_Summary!$N$2:$N$12</cx:f>
        <cx:lvl ptCount="11" formatCode="0.00%"/>
      </cx:numDim>
    </cx:data>
  </cx:chartData>
  <cx:chart>
    <cx:title pos="t" align="ctr" overlay="0">
      <cx:tx>
        <cx:txData>
          <cx:v>Year on Year Turnover Growth Based on Sector</cx:v>
        </cx:txData>
      </cx:tx>
      <cx:txPr>
        <a:bodyPr spcFirstLastPara="1" vertOverflow="ellipsis" horzOverflow="overflow" wrap="square" lIns="0" tIns="0" rIns="0" bIns="0" anchor="ctr" anchorCtr="1"/>
        <a:lstStyle/>
        <a:p>
          <a:pPr algn="ctr" rtl="0">
            <a:defRPr/>
          </a:pPr>
          <a:r>
            <a:rPr lang="en-US" sz="1800" b="1" i="0" u="none" strike="noStrike" baseline="0">
              <a:solidFill>
                <a:sysClr val="windowText" lastClr="000000">
                  <a:lumMod val="75000"/>
                  <a:lumOff val="25000"/>
                </a:sysClr>
              </a:solidFill>
              <a:latin typeface="Aptos Narrow" panose="02110004020202020204"/>
            </a:rPr>
            <a:t>Year on Year Turnover Growth Based on Sector</a:t>
          </a:r>
        </a:p>
      </cx:txPr>
    </cx:title>
    <cx:plotArea>
      <cx:plotAreaRegion>
        <cx:series layoutId="funnel" uniqueId="{54E5A537-03EB-4174-846C-AA03201768B5}" formatIdx="0">
          <cx:tx>
            <cx:txData>
              <cx:f>Data_Summary!$M$1</cx:f>
              <cx:v>Stdp YoY%</cx:v>
            </cx:txData>
          </cx:tx>
          <cx:dataLabels>
            <cx:txPr>
              <a:bodyPr spcFirstLastPara="1" vertOverflow="ellipsis" horzOverflow="overflow" wrap="square" lIns="0" tIns="0" rIns="0" bIns="0" anchor="ctr" anchorCtr="1"/>
              <a:lstStyle/>
              <a:p>
                <a:pPr algn="ctr" rtl="0">
                  <a:defRPr sz="1000">
                    <a:solidFill>
                      <a:schemeClr val="bg1"/>
                    </a:solidFill>
                    <a:latin typeface="Arial Black" panose="020B0A04020102020204" pitchFamily="34" charset="0"/>
                    <a:ea typeface="Arial Black" panose="020B0A04020102020204" pitchFamily="34" charset="0"/>
                    <a:cs typeface="Arial Black" panose="020B0A04020102020204" pitchFamily="34" charset="0"/>
                  </a:defRPr>
                </a:pPr>
                <a:endParaRPr lang="en-US" sz="1000" b="0" i="0" u="none" strike="noStrike" baseline="0">
                  <a:solidFill>
                    <a:schemeClr val="bg1"/>
                  </a:solidFill>
                  <a:latin typeface="Arial Black" panose="020B0A04020102020204" pitchFamily="34" charset="0"/>
                </a:endParaRPr>
              </a:p>
            </cx:txPr>
            <cx:visibility seriesName="0" categoryName="0" value="1"/>
          </cx:dataLabels>
          <cx:dataId val="0"/>
        </cx:series>
        <cx:series layoutId="funnel" hidden="1" uniqueId="{D3A51853-6231-4542-8722-DC55A358AF69}" formatIdx="1">
          <cx:tx>
            <cx:txData>
              <cx:f>Data_Summary!$N$1</cx:f>
              <cx:v/>
            </cx:txData>
          </cx:tx>
          <cx:dataLabels>
            <cx:visibility seriesName="0" categoryName="0" value="1"/>
          </cx:dataLabels>
          <cx:dataId val="1"/>
        </cx:series>
      </cx:plotAreaRegion>
      <cx:axis id="0">
        <cx:catScaling gapWidth="0.150000006"/>
        <cx:tickLabels/>
        <cx:spPr>
          <a:ln>
            <a:noFill/>
          </a:ln>
        </cx:spPr>
        <cx:txPr>
          <a:bodyPr spcFirstLastPara="1" vertOverflow="ellipsis" horzOverflow="overflow" wrap="square" lIns="0" tIns="0" rIns="0" bIns="0" anchor="ctr" anchorCtr="1"/>
          <a:lstStyle/>
          <a:p>
            <a:pPr algn="ctr" rtl="0">
              <a:defRPr>
                <a:latin typeface="Arial Black" panose="020B0A04020102020204" pitchFamily="34" charset="0"/>
                <a:ea typeface="Arial Black" panose="020B0A04020102020204" pitchFamily="34" charset="0"/>
                <a:cs typeface="Arial Black" panose="020B0A04020102020204" pitchFamily="34" charset="0"/>
              </a:defRPr>
            </a:pPr>
            <a:endParaRPr lang="en-US" sz="900" b="0" i="0" u="none" strike="noStrike" baseline="0">
              <a:solidFill>
                <a:prstClr val="black">
                  <a:lumMod val="75000"/>
                  <a:lumOff val="25000"/>
                </a:prstClr>
              </a:solidFill>
              <a:latin typeface="Arial Black" panose="020B0A04020102020204" pitchFamily="34" charset="0"/>
            </a:endParaRPr>
          </a:p>
        </cx:txPr>
      </cx:axis>
    </cx:plotArea>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424">
  <cs:axisTitle>
    <cs:lnRef idx="0"/>
    <cs:fillRef idx="0"/>
    <cs:effectRef idx="0"/>
    <cs:fontRef idx="minor">
      <a:schemeClr val="dk1">
        <a:lumMod val="75000"/>
        <a:lumOff val="25000"/>
      </a:schemeClr>
    </cs:fontRef>
    <cs:defRPr sz="9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cs:chartArea>
  <cs:dataLabel>
    <cs:lnRef idx="0"/>
    <cs:fillRef idx="0"/>
    <cs:effectRef idx="0"/>
    <cs:fontRef idx="minor">
      <a:schemeClr val="dk1"/>
    </cs:fontRef>
    <cs:defRPr sz="900"/>
  </cs:dataLabel>
  <cs:dataLabelCallout>
    <cs:lnRef idx="0"/>
    <cs:fillRef idx="0"/>
    <cs:effectRef idx="0"/>
    <cs:fontRef idx="minor">
      <a:schemeClr val="lt1"/>
    </cs:fontRef>
    <cs:spPr>
      <a:solidFill>
        <a:schemeClr val="dk1">
          <a:lumMod val="65000"/>
          <a:lumOff val="35000"/>
          <a:alpha val="75000"/>
        </a:schemeClr>
      </a:solidFill>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2857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75000"/>
            <a:lumOff val="25000"/>
          </a:schemeClr>
        </a:solidFill>
      </a:ln>
    </cs:spPr>
    <cs:defRPr sz="9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lumOff val="10000"/>
              </a:schemeClr>
            </a:gs>
            <a:gs pos="0">
              <a:schemeClr val="lt1">
                <a:lumMod val="75000"/>
                <a:alpha val="36000"/>
                <a:lumOff val="10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cs:seriesAxis>
  <cs:seriesLine>
    <cs:lnRef idx="0"/>
    <cs:fillRef idx="0"/>
    <cs:effectRef idx="0"/>
    <cs:fontRef idx="minor">
      <a:schemeClr val="dk1"/>
    </cs:fontRef>
    <cs:spPr>
      <a:ln w="9525" cap="flat">
        <a:solidFill>
          <a:schemeClr val="bg1">
            <a:lumMod val="50000"/>
          </a:schemeClr>
        </a:solidFill>
        <a:round/>
      </a:ln>
    </cs:spPr>
  </cs:seriesLine>
  <cs:title>
    <cs:lnRef idx="0"/>
    <cs:fillRef idx="0"/>
    <cs:effectRef idx="0"/>
    <cs:fontRef idx="minor">
      <a:schemeClr val="dk1">
        <a:lumMod val="75000"/>
        <a:lumOff val="25000"/>
      </a:schemeClr>
    </cs:fontRef>
    <cs:defRPr sz="1800" b="1"/>
  </cs:title>
  <cs:trendline>
    <cs:lnRef idx="0"/>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75000"/>
        <a:lumOff val="25000"/>
      </a:schemeClr>
    </cs:fontRef>
    <cs:defRPr sz="9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defRPr sz="9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9">
  <cs:axisTitle>
    <cs:lnRef idx="0"/>
    <cs:fillRef idx="0"/>
    <cs:effectRef idx="0"/>
    <cs:fontRef idx="minor">
      <a:schemeClr val="lt1"/>
    </cs:fontRef>
    <cs:defRPr sz="900" b="1" kern="1200"/>
  </cs:axisTitle>
  <cs:categoryAxis>
    <cs:lnRef idx="0">
      <cs:styleClr val="0"/>
    </cs:lnRef>
    <cs:fillRef idx="0"/>
    <cs:effectRef idx="0"/>
    <cs:fontRef idx="minor">
      <a:schemeClr val="lt1"/>
    </cs:fontRef>
    <cs:spPr>
      <a:ln w="12700" cap="flat" cmpd="sng" algn="ctr">
        <a:solidFill>
          <a:schemeClr val="lt1"/>
        </a:solidFill>
        <a:round/>
      </a:ln>
    </cs:spPr>
    <cs:defRPr sz="900" kern="1200" spc="100" baseline="0"/>
  </cs:categoryAxis>
  <cs:chartArea>
    <cs:lnRef idx="0">
      <cs:styleClr val="0"/>
    </cs:lnRef>
    <cs:fillRef idx="0">
      <cs:styleClr val="0"/>
    </cs:fillRef>
    <cs:effectRef idx="0"/>
    <cs:fontRef idx="minor">
      <a:schemeClr val="dk1"/>
    </cs:fontRef>
    <cs:spPr>
      <a:solidFill>
        <a:schemeClr val="phClr"/>
      </a:solidFill>
      <a:ln w="9525" cap="flat" cmpd="sng" algn="ctr">
        <a:solidFill>
          <a:schemeClr val="phClr"/>
        </a:solidFill>
        <a:round/>
      </a:ln>
    </cs:spPr>
    <cs:defRPr sz="1000" kern="1200"/>
  </cs:chartArea>
  <cs:dataLabel>
    <cs:lnRef idx="0"/>
    <cs:fillRef idx="0"/>
    <cs:effectRef idx="0"/>
    <cs:fontRef idx="minor">
      <a:schemeClr val="lt1"/>
    </cs:fontRef>
    <cs:defRPr sz="900" b="1" kern="1200"/>
  </cs:dataLabel>
  <cs:dataLabelCallout>
    <cs:lnRef idx="0">
      <cs:styleClr val="auto"/>
    </cs:lnRef>
    <cs:fillRef idx="0"/>
    <cs:effectRef idx="0"/>
    <cs:fontRef idx="minor">
      <cs:styleClr val="auto"/>
    </cs:fontRef>
    <cs:spPr>
      <a:solidFill>
        <a:schemeClr val="lt1"/>
      </a:solidFill>
      <a:ln>
        <a:solidFill>
          <a:schemeClr val="ph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pattFill prst="ltUpDiag">
        <a:fgClr>
          <a:schemeClr val="phClr"/>
        </a:fgClr>
        <a:bgClr>
          <a:schemeClr val="lt1"/>
        </a:bgClr>
      </a:pattFill>
    </cs:spPr>
  </cs:dataPoint>
  <cs:dataPoint3D>
    <cs:lnRef idx="0"/>
    <cs:fillRef idx="0">
      <cs:styleClr val="auto"/>
    </cs:fillRef>
    <cs:effectRef idx="0"/>
    <cs:fontRef idx="minor">
      <a:schemeClr val="dk1"/>
    </cs:fontRef>
    <cs:spPr>
      <a:pattFill prst="ltUpDiag">
        <a:fgClr>
          <a:schemeClr val="phClr"/>
        </a:fgClr>
        <a:bgClr>
          <a:schemeClr val="lt1"/>
        </a:bgClr>
      </a:pattFill>
    </cs:spPr>
  </cs:dataPoint3D>
  <cs:dataPointLine>
    <cs:lnRef idx="0">
      <cs:styleClr val="auto"/>
    </cs:lnRef>
    <cs:fillRef idx="0"/>
    <cs:effectRef idx="0">
      <cs:styleClr val="auto"/>
    </cs:effectRef>
    <cs:fontRef idx="minor">
      <a:schemeClr val="dk1"/>
    </cs:fontRef>
    <cs:spPr>
      <a:ln w="34925" cap="rnd">
        <a:solidFill>
          <a:schemeClr val="lt1"/>
        </a:solidFill>
        <a:round/>
      </a:ln>
      <a:effectLst>
        <a:outerShdw dist="25400" dir="2700000" algn="tl" rotWithShape="0">
          <a:schemeClr val="phClr"/>
        </a:outerShdw>
      </a:effectLst>
    </cs:spPr>
  </cs:dataPointLine>
  <cs:dataPointMarker>
    <cs:lnRef idx="0"/>
    <cs:fillRef idx="0">
      <cs:styleClr val="auto"/>
    </cs:fillRef>
    <cs:effectRef idx="0"/>
    <cs:fontRef idx="minor">
      <a:schemeClr val="dk1"/>
    </cs:fontRef>
    <cs:spPr>
      <a:solidFill>
        <a:schemeClr val="phClr"/>
      </a:solidFill>
      <a:ln w="22225">
        <a:solidFill>
          <a:schemeClr val="lt1"/>
        </a:solidFill>
        <a:round/>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styleClr val="0"/>
    </cs:lnRef>
    <cs:fillRef idx="0"/>
    <cs:effectRef idx="0"/>
    <cs:fontRef idx="minor">
      <a:schemeClr val="lt1"/>
    </cs:fontRef>
    <cs:spPr>
      <a:ln w="9525">
        <a:solidFill>
          <a:schemeClr val="phClr">
            <a:lumMod val="60000"/>
            <a:lumOff val="40000"/>
          </a:schemeClr>
        </a:solidFill>
      </a:ln>
    </cs:spPr>
    <cs:defRPr sz="900" kern="1200"/>
  </cs:dataTable>
  <cs:downBar>
    <cs:lnRef idx="0">
      <cs:styleClr val="0"/>
    </cs:lnRef>
    <cs:fillRef idx="0"/>
    <cs:effectRef idx="0"/>
    <cs:fontRef idx="minor">
      <a:schemeClr val="dk1"/>
    </cs:fontRef>
    <cs:spPr>
      <a:solidFill>
        <a:schemeClr val="dk1">
          <a:lumMod val="35000"/>
          <a:lumOff val="65000"/>
        </a:schemeClr>
      </a:solidFill>
      <a:ln w="9525">
        <a:solidFill>
          <a:schemeClr val="phClr">
            <a:lumMod val="60000"/>
            <a:lumOff val="40000"/>
          </a:schemeClr>
        </a:solidFill>
      </a:ln>
    </cs:spPr>
  </cs:downBar>
  <cs:dropLine>
    <cs:lnRef idx="0"/>
    <cs:fillRef idx="0"/>
    <cs:effectRef idx="0"/>
    <cs:fontRef idx="minor">
      <a:schemeClr val="dk1"/>
    </cs:fontRef>
    <cs:spPr>
      <a:ln w="9525" cap="flat" cmpd="sng" algn="ctr">
        <a:gradFill>
          <a:gsLst>
            <a:gs pos="0">
              <a:schemeClr val="lt1"/>
            </a:gs>
            <a:gs pos="100000">
              <a:schemeClr val="lt1">
                <a:alpha val="0"/>
              </a:schemeClr>
            </a:gs>
          </a:gsLst>
          <a:lin ang="5400000" scaled="0"/>
        </a:gradFill>
        <a:round/>
      </a:ln>
    </cs:spPr>
  </cs:dropLine>
  <cs:errorBar>
    <cs:lnRef idx="0">
      <cs:styleClr val="0"/>
    </cs:lnRef>
    <cs:fillRef idx="0"/>
    <cs:effectRef idx="0"/>
    <cs:fontRef idx="minor">
      <a:schemeClr val="dk1"/>
    </cs:fontRef>
    <cs:spPr>
      <a:ln w="9525">
        <a:solidFill>
          <a:schemeClr val="phClr">
            <a:lumMod val="60000"/>
            <a:lumOff val="40000"/>
          </a:schemeClr>
        </a:solidFill>
        <a:round/>
      </a:ln>
      <a:effectLst>
        <a:glow rad="25400">
          <a:schemeClr val="lt1"/>
        </a:glow>
      </a:effectLst>
    </cs:spPr>
  </cs:errorBar>
  <cs:floor>
    <cs:lnRef idx="0"/>
    <cs:fillRef idx="0"/>
    <cs:effectRef idx="0"/>
    <cs:fontRef idx="minor">
      <a:schemeClr val="dk1"/>
    </cs:fontRef>
  </cs:floor>
  <cs:gridlineMajor>
    <cs:lnRef idx="0">
      <cs:styleClr val="0"/>
    </cs:lnRef>
    <cs:fillRef idx="0"/>
    <cs:effectRef idx="0"/>
    <cs:fontRef idx="minor">
      <a:schemeClr val="dk1"/>
    </cs:fontRef>
    <cs:spPr>
      <a:ln w="9525" cap="flat" cmpd="sng" algn="ctr">
        <a:solidFill>
          <a:schemeClr val="lt1">
            <a:alpha val="25000"/>
          </a:schemeClr>
        </a:solidFill>
        <a:round/>
      </a:ln>
    </cs:spPr>
  </cs:gridlineMajor>
  <cs:gridlineMinor>
    <cs:lnRef idx="0">
      <cs:styleClr val="0"/>
    </cs:lnRef>
    <cs:fillRef idx="0"/>
    <cs:effectRef idx="0"/>
    <cs:fontRef idx="minor">
      <a:schemeClr val="dk1"/>
    </cs:fontRef>
    <cs:spPr>
      <a:ln>
        <a:solidFill>
          <a:schemeClr val="lt1">
            <a:alpha val="10000"/>
          </a:schemeClr>
        </a:solidFill>
      </a:ln>
    </cs:spPr>
  </cs:gridlineMinor>
  <cs:hiLoLine>
    <cs:lnRef idx="0">
      <cs:styleClr val="0"/>
    </cs:lnRef>
    <cs:fillRef idx="0"/>
    <cs:effectRef idx="0"/>
    <cs:fontRef idx="minor">
      <a:schemeClr val="dk1"/>
    </cs:fontRef>
    <cs:spPr>
      <a:ln w="9525">
        <a:solidFill>
          <a:schemeClr val="phClr">
            <a:lumMod val="60000"/>
            <a:lumOff val="40000"/>
          </a:schemeClr>
        </a:solidFill>
        <a:prstDash val="dash"/>
      </a:ln>
    </cs:spPr>
  </cs:hiLoLine>
  <cs:leaderLine>
    <cs:lnRef idx="0">
      <cs:styleClr val="0"/>
    </cs:lnRef>
    <cs:fillRef idx="0"/>
    <cs:effectRef idx="0"/>
    <cs:fontRef idx="minor">
      <a:schemeClr val="dk1"/>
    </cs:fontRef>
    <cs:spPr>
      <a:ln w="9525">
        <a:solidFill>
          <a:schemeClr val="phClr">
            <a:lumMod val="60000"/>
            <a:lumOff val="40000"/>
          </a:schemeClr>
        </a:solidFill>
      </a:ln>
    </cs:spPr>
  </cs:leaderLine>
  <cs:legend>
    <cs:lnRef idx="0"/>
    <cs:fillRef idx="0"/>
    <cs:effectRef idx="0"/>
    <cs:fontRef idx="minor">
      <a:schemeClr val="lt1"/>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styleClr val="0"/>
    </cs:lnRef>
    <cs:fillRef idx="0"/>
    <cs:effectRef idx="0"/>
    <cs:fontRef idx="minor">
      <a:schemeClr val="lt1"/>
    </cs:fontRef>
    <cs:spPr>
      <a:ln w="3175" cap="flat" cmpd="sng" algn="ctr">
        <a:solidFill>
          <a:schemeClr val="phClr">
            <a:lumMod val="60000"/>
            <a:lumOff val="40000"/>
          </a:schemeClr>
        </a:solidFill>
        <a:round/>
      </a:ln>
    </cs:spPr>
    <cs:defRPr sz="900" kern="1200"/>
  </cs:seriesAxis>
  <cs:seriesLine>
    <cs:lnRef idx="0">
      <cs:styleClr val="0"/>
    </cs:lnRef>
    <cs:fillRef idx="0"/>
    <cs:effectRef idx="0"/>
    <cs:fontRef idx="minor">
      <a:schemeClr val="dk1"/>
    </cs:fontRef>
    <cs:spPr>
      <a:ln w="9525">
        <a:solidFill>
          <a:schemeClr val="phClr">
            <a:lumMod val="60000"/>
            <a:lumOff val="40000"/>
            <a:tint val="50000"/>
          </a:schemeClr>
        </a:solidFill>
        <a:prstDash val="dash"/>
      </a:ln>
    </cs:spPr>
  </cs:seriesLine>
  <cs:title>
    <cs:lnRef idx="0"/>
    <cs:fillRef idx="0"/>
    <cs:effectRef idx="0"/>
    <cs:fontRef idx="minor">
      <a:schemeClr val="lt1"/>
    </cs:fontRef>
    <cs:defRPr sz="1500" b="1" kern="1200" cap="all" spc="100" normalizeH="0" baseline="0"/>
  </cs:title>
  <cs:trendline>
    <cs:lnRef idx="0"/>
    <cs:fillRef idx="0"/>
    <cs:effectRef idx="0"/>
    <cs:fontRef idx="minor">
      <a:schemeClr val="dk1"/>
    </cs:fontRef>
    <cs:spPr>
      <a:ln w="28575" cap="rnd">
        <a:solidFill>
          <a:schemeClr val="lt1">
            <a:alpha val="50000"/>
          </a:schemeClr>
        </a:solidFill>
        <a:round/>
      </a:ln>
    </cs:spPr>
  </cs:trendline>
  <cs:trendlineLabel>
    <cs:lnRef idx="0"/>
    <cs:fillRef idx="0"/>
    <cs:effectRef idx="0"/>
    <cs:fontRef idx="minor">
      <a:schemeClr val="lt1"/>
    </cs:fontRef>
    <cs:defRPr sz="900" kern="1200"/>
  </cs:trendlineLabel>
  <cs:upBar>
    <cs:lnRef idx="0">
      <cs:styleClr val="0"/>
    </cs:lnRef>
    <cs:fillRef idx="0"/>
    <cs:effectRef idx="0"/>
    <cs:fontRef idx="minor">
      <a:schemeClr val="dk1"/>
    </cs:fontRef>
    <cs:spPr>
      <a:solidFill>
        <a:schemeClr val="lt1">
          <a:lumMod val="95000"/>
        </a:schemeClr>
      </a:solidFill>
      <a:ln w="9525">
        <a:solidFill>
          <a:schemeClr val="phClr">
            <a:lumMod val="60000"/>
            <a:lumOff val="40000"/>
          </a:schemeClr>
        </a:solidFill>
      </a:ln>
    </cs:spPr>
  </cs:upBar>
  <cs:valueAxis>
    <cs:lnRef idx="0"/>
    <cs:fillRef idx="0"/>
    <cs:effectRef idx="0"/>
    <cs:fontRef idx="minor">
      <a:schemeClr val="lt1"/>
    </cs:fontRef>
    <cs:defRPr sz="900"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29">
  <cs:axisTitle>
    <cs:lnRef idx="0"/>
    <cs:fillRef idx="0"/>
    <cs:effectRef idx="0"/>
    <cs:fontRef idx="minor">
      <a:schemeClr val="lt1"/>
    </cs:fontRef>
    <cs:defRPr sz="1197" b="1" kern="1200"/>
  </cs:axisTitle>
  <cs:categoryAxis>
    <cs:lnRef idx="0">
      <cs:styleClr val="0"/>
    </cs:lnRef>
    <cs:fillRef idx="0"/>
    <cs:effectRef idx="0"/>
    <cs:fontRef idx="minor">
      <a:schemeClr val="lt1"/>
    </cs:fontRef>
    <cs:spPr>
      <a:ln w="12700" cap="flat" cmpd="sng" algn="ctr">
        <a:solidFill>
          <a:schemeClr val="lt1"/>
        </a:solidFill>
        <a:round/>
      </a:ln>
    </cs:spPr>
    <cs:defRPr sz="1197" kern="1200" spc="100" baseline="0"/>
  </cs:categoryAxis>
  <cs:chartArea>
    <cs:lnRef idx="0">
      <cs:styleClr val="0"/>
    </cs:lnRef>
    <cs:fillRef idx="0">
      <cs:styleClr val="0"/>
    </cs:fillRef>
    <cs:effectRef idx="0"/>
    <cs:fontRef idx="minor">
      <a:schemeClr val="dk1"/>
    </cs:fontRef>
    <cs:spPr>
      <a:solidFill>
        <a:schemeClr val="phClr"/>
      </a:solidFill>
      <a:ln w="9525" cap="flat" cmpd="sng" algn="ctr">
        <a:solidFill>
          <a:schemeClr val="phClr"/>
        </a:solidFill>
        <a:round/>
      </a:ln>
    </cs:spPr>
    <cs:defRPr sz="1330" kern="1200"/>
  </cs:chartArea>
  <cs:dataLabel>
    <cs:lnRef idx="0"/>
    <cs:fillRef idx="0"/>
    <cs:effectRef idx="0"/>
    <cs:fontRef idx="minor">
      <a:schemeClr val="lt1"/>
    </cs:fontRef>
    <cs:defRPr sz="1197" b="1" kern="1200"/>
  </cs:dataLabel>
  <cs:dataLabelCallout>
    <cs:lnRef idx="0">
      <cs:styleClr val="auto"/>
    </cs:lnRef>
    <cs:fillRef idx="0"/>
    <cs:effectRef idx="0"/>
    <cs:fontRef idx="minor">
      <cs:styleClr val="auto"/>
    </cs:fontRef>
    <cs:spPr>
      <a:solidFill>
        <a:schemeClr val="lt1"/>
      </a:solidFill>
      <a:ln>
        <a:solidFill>
          <a:schemeClr val="ph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pattFill prst="ltUpDiag">
        <a:fgClr>
          <a:schemeClr val="phClr"/>
        </a:fgClr>
        <a:bgClr>
          <a:schemeClr val="lt1"/>
        </a:bgClr>
      </a:pattFill>
    </cs:spPr>
  </cs:dataPoint>
  <cs:dataPoint3D>
    <cs:lnRef idx="0"/>
    <cs:fillRef idx="0">
      <cs:styleClr val="auto"/>
    </cs:fillRef>
    <cs:effectRef idx="0"/>
    <cs:fontRef idx="minor">
      <a:schemeClr val="dk1"/>
    </cs:fontRef>
    <cs:spPr>
      <a:pattFill prst="ltUpDiag">
        <a:fgClr>
          <a:schemeClr val="phClr"/>
        </a:fgClr>
        <a:bgClr>
          <a:schemeClr val="lt1"/>
        </a:bgClr>
      </a:pattFill>
    </cs:spPr>
  </cs:dataPoint3D>
  <cs:dataPointLine>
    <cs:lnRef idx="0">
      <cs:styleClr val="auto"/>
    </cs:lnRef>
    <cs:fillRef idx="0"/>
    <cs:effectRef idx="0">
      <cs:styleClr val="auto"/>
    </cs:effectRef>
    <cs:fontRef idx="minor">
      <a:schemeClr val="dk1"/>
    </cs:fontRef>
    <cs:spPr>
      <a:ln w="34925" cap="rnd">
        <a:solidFill>
          <a:schemeClr val="lt1"/>
        </a:solidFill>
        <a:round/>
      </a:ln>
      <a:effectLst>
        <a:outerShdw dist="25400" dir="2700000" algn="tl" rotWithShape="0">
          <a:schemeClr val="phClr"/>
        </a:outerShdw>
      </a:effectLst>
    </cs:spPr>
  </cs:dataPointLine>
  <cs:dataPointMarker>
    <cs:lnRef idx="0"/>
    <cs:fillRef idx="0">
      <cs:styleClr val="auto"/>
    </cs:fillRef>
    <cs:effectRef idx="0"/>
    <cs:fontRef idx="minor">
      <a:schemeClr val="dk1"/>
    </cs:fontRef>
    <cs:spPr>
      <a:solidFill>
        <a:schemeClr val="phClr"/>
      </a:solidFill>
      <a:ln w="22225">
        <a:solidFill>
          <a:schemeClr val="lt1"/>
        </a:solidFill>
        <a:round/>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styleClr val="0"/>
    </cs:lnRef>
    <cs:fillRef idx="0"/>
    <cs:effectRef idx="0"/>
    <cs:fontRef idx="minor">
      <a:schemeClr val="lt1"/>
    </cs:fontRef>
    <cs:spPr>
      <a:ln w="9525">
        <a:solidFill>
          <a:schemeClr val="phClr">
            <a:lumMod val="60000"/>
            <a:lumOff val="40000"/>
          </a:schemeClr>
        </a:solidFill>
      </a:ln>
    </cs:spPr>
    <cs:defRPr sz="1197" kern="1200"/>
  </cs:dataTable>
  <cs:downBar>
    <cs:lnRef idx="0">
      <cs:styleClr val="0"/>
    </cs:lnRef>
    <cs:fillRef idx="0"/>
    <cs:effectRef idx="0"/>
    <cs:fontRef idx="minor">
      <a:schemeClr val="dk1"/>
    </cs:fontRef>
    <cs:spPr>
      <a:solidFill>
        <a:schemeClr val="dk1">
          <a:lumMod val="35000"/>
          <a:lumOff val="65000"/>
        </a:schemeClr>
      </a:solidFill>
      <a:ln w="9525">
        <a:solidFill>
          <a:schemeClr val="phClr">
            <a:lumMod val="60000"/>
            <a:lumOff val="40000"/>
          </a:schemeClr>
        </a:solidFill>
      </a:ln>
    </cs:spPr>
  </cs:downBar>
  <cs:dropLine>
    <cs:lnRef idx="0"/>
    <cs:fillRef idx="0"/>
    <cs:effectRef idx="0"/>
    <cs:fontRef idx="minor">
      <a:schemeClr val="dk1"/>
    </cs:fontRef>
    <cs:spPr>
      <a:ln w="9525" cap="flat" cmpd="sng" algn="ctr">
        <a:gradFill>
          <a:gsLst>
            <a:gs pos="0">
              <a:schemeClr val="lt1"/>
            </a:gs>
            <a:gs pos="100000">
              <a:schemeClr val="lt1">
                <a:alpha val="0"/>
              </a:schemeClr>
            </a:gs>
          </a:gsLst>
          <a:lin ang="5400000" scaled="0"/>
        </a:gradFill>
        <a:round/>
      </a:ln>
    </cs:spPr>
  </cs:dropLine>
  <cs:errorBar>
    <cs:lnRef idx="0">
      <cs:styleClr val="0"/>
    </cs:lnRef>
    <cs:fillRef idx="0"/>
    <cs:effectRef idx="0"/>
    <cs:fontRef idx="minor">
      <a:schemeClr val="dk1"/>
    </cs:fontRef>
    <cs:spPr>
      <a:ln w="9525">
        <a:solidFill>
          <a:schemeClr val="phClr">
            <a:lumMod val="60000"/>
            <a:lumOff val="40000"/>
          </a:schemeClr>
        </a:solidFill>
        <a:round/>
      </a:ln>
      <a:effectLst>
        <a:glow rad="25400">
          <a:schemeClr val="lt1"/>
        </a:glow>
      </a:effectLst>
    </cs:spPr>
  </cs:errorBar>
  <cs:floor>
    <cs:lnRef idx="0"/>
    <cs:fillRef idx="0"/>
    <cs:effectRef idx="0"/>
    <cs:fontRef idx="minor">
      <a:schemeClr val="dk1"/>
    </cs:fontRef>
  </cs:floor>
  <cs:gridlineMajor>
    <cs:lnRef idx="0">
      <cs:styleClr val="0"/>
    </cs:lnRef>
    <cs:fillRef idx="0"/>
    <cs:effectRef idx="0"/>
    <cs:fontRef idx="minor">
      <a:schemeClr val="dk1"/>
    </cs:fontRef>
    <cs:spPr>
      <a:ln w="9525" cap="flat" cmpd="sng" algn="ctr">
        <a:solidFill>
          <a:schemeClr val="lt1">
            <a:alpha val="25000"/>
          </a:schemeClr>
        </a:solidFill>
        <a:round/>
      </a:ln>
    </cs:spPr>
  </cs:gridlineMajor>
  <cs:gridlineMinor>
    <cs:lnRef idx="0">
      <cs:styleClr val="0"/>
    </cs:lnRef>
    <cs:fillRef idx="0"/>
    <cs:effectRef idx="0"/>
    <cs:fontRef idx="minor">
      <a:schemeClr val="dk1"/>
    </cs:fontRef>
    <cs:spPr>
      <a:ln>
        <a:solidFill>
          <a:schemeClr val="lt1">
            <a:alpha val="10000"/>
          </a:schemeClr>
        </a:solidFill>
      </a:ln>
    </cs:spPr>
  </cs:gridlineMinor>
  <cs:hiLoLine>
    <cs:lnRef idx="0">
      <cs:styleClr val="0"/>
    </cs:lnRef>
    <cs:fillRef idx="0"/>
    <cs:effectRef idx="0"/>
    <cs:fontRef idx="minor">
      <a:schemeClr val="dk1"/>
    </cs:fontRef>
    <cs:spPr>
      <a:ln w="9525">
        <a:solidFill>
          <a:schemeClr val="phClr">
            <a:lumMod val="60000"/>
            <a:lumOff val="40000"/>
          </a:schemeClr>
        </a:solidFill>
        <a:prstDash val="dash"/>
      </a:ln>
    </cs:spPr>
  </cs:hiLoLine>
  <cs:leaderLine>
    <cs:lnRef idx="0">
      <cs:styleClr val="0"/>
    </cs:lnRef>
    <cs:fillRef idx="0"/>
    <cs:effectRef idx="0"/>
    <cs:fontRef idx="minor">
      <a:schemeClr val="dk1"/>
    </cs:fontRef>
    <cs:spPr>
      <a:ln w="9525">
        <a:solidFill>
          <a:schemeClr val="phClr">
            <a:lumMod val="60000"/>
            <a:lumOff val="40000"/>
          </a:schemeClr>
        </a:solidFill>
      </a:ln>
    </cs:spPr>
  </cs:leaderLine>
  <cs:legend>
    <cs:lnRef idx="0"/>
    <cs:fillRef idx="0"/>
    <cs:effectRef idx="0"/>
    <cs:fontRef idx="minor">
      <a:schemeClr val="lt1"/>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styleClr val="0"/>
    </cs:lnRef>
    <cs:fillRef idx="0"/>
    <cs:effectRef idx="0"/>
    <cs:fontRef idx="minor">
      <a:schemeClr val="lt1"/>
    </cs:fontRef>
    <cs:spPr>
      <a:ln w="3175" cap="flat" cmpd="sng" algn="ctr">
        <a:solidFill>
          <a:schemeClr val="phClr">
            <a:lumMod val="60000"/>
            <a:lumOff val="40000"/>
          </a:schemeClr>
        </a:solidFill>
        <a:round/>
      </a:ln>
    </cs:spPr>
    <cs:defRPr sz="1197" kern="1200"/>
  </cs:seriesAxis>
  <cs:seriesLine>
    <cs:lnRef idx="0">
      <cs:styleClr val="0"/>
    </cs:lnRef>
    <cs:fillRef idx="0"/>
    <cs:effectRef idx="0"/>
    <cs:fontRef idx="minor">
      <a:schemeClr val="dk1"/>
    </cs:fontRef>
    <cs:spPr>
      <a:ln w="9525">
        <a:solidFill>
          <a:schemeClr val="phClr">
            <a:lumMod val="60000"/>
            <a:lumOff val="40000"/>
            <a:tint val="50000"/>
          </a:schemeClr>
        </a:solidFill>
        <a:prstDash val="dash"/>
      </a:ln>
    </cs:spPr>
  </cs:seriesLine>
  <cs:title>
    <cs:lnRef idx="0"/>
    <cs:fillRef idx="0"/>
    <cs:effectRef idx="0"/>
    <cs:fontRef idx="minor">
      <a:schemeClr val="lt1"/>
    </cs:fontRef>
    <cs:defRPr sz="1995" b="1" kern="1200" cap="all" spc="100" normalizeH="0" baseline="0"/>
  </cs:title>
  <cs:trendline>
    <cs:lnRef idx="0"/>
    <cs:fillRef idx="0"/>
    <cs:effectRef idx="0"/>
    <cs:fontRef idx="minor">
      <a:schemeClr val="dk1"/>
    </cs:fontRef>
    <cs:spPr>
      <a:ln w="28575" cap="rnd">
        <a:solidFill>
          <a:schemeClr val="lt1">
            <a:alpha val="50000"/>
          </a:schemeClr>
        </a:solidFill>
        <a:round/>
      </a:ln>
    </cs:spPr>
  </cs:trendline>
  <cs:trendlineLabel>
    <cs:lnRef idx="0"/>
    <cs:fillRef idx="0"/>
    <cs:effectRef idx="0"/>
    <cs:fontRef idx="minor">
      <a:schemeClr val="lt1"/>
    </cs:fontRef>
    <cs:defRPr sz="1197" kern="1200"/>
  </cs:trendlineLabel>
  <cs:upBar>
    <cs:lnRef idx="0">
      <cs:styleClr val="0"/>
    </cs:lnRef>
    <cs:fillRef idx="0"/>
    <cs:effectRef idx="0"/>
    <cs:fontRef idx="minor">
      <a:schemeClr val="dk1"/>
    </cs:fontRef>
    <cs:spPr>
      <a:solidFill>
        <a:schemeClr val="lt1">
          <a:lumMod val="95000"/>
        </a:schemeClr>
      </a:solidFill>
      <a:ln w="9525">
        <a:solidFill>
          <a:schemeClr val="phClr">
            <a:lumMod val="60000"/>
            <a:lumOff val="40000"/>
          </a:schemeClr>
        </a:solidFill>
      </a:ln>
    </cs:spPr>
  </cs:upBar>
  <cs:valueAxis>
    <cs:lnRef idx="0"/>
    <cs:fillRef idx="0"/>
    <cs:effectRef idx="0"/>
    <cs:fontRef idx="minor">
      <a:schemeClr val="lt1"/>
    </cs:fontRef>
    <cs:defRPr sz="1197"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94">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dk1">
            <a:lumMod val="50000"/>
            <a:lumOff val="50000"/>
          </a:schemeClr>
        </a:solidFill>
        <a:round/>
      </a:ln>
    </cs:spPr>
  </cs:gridlineMajor>
  <cs:gridlineMinor>
    <cs:lnRef idx="0"/>
    <cs:fillRef idx="0"/>
    <cs:effectRef idx="0"/>
    <cs:fontRef idx="minor">
      <a:schemeClr val="tx1"/>
    </cs:fontRef>
    <cs:spPr>
      <a:ln>
        <a:solidFill>
          <a:schemeClr val="dk1">
            <a:lumMod val="60000"/>
            <a:lumOff val="40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tx1"/>
    </cs:fontRef>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B2C17-6DDC-D063-5BEA-9FC64F7939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255ED7A-D355-71E6-ED25-43DFCD784D2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F03A6F8-21F8-29F5-DBBF-06CE2D8E5E3E}"/>
              </a:ext>
            </a:extLst>
          </p:cNvPr>
          <p:cNvSpPr>
            <a:spLocks noGrp="1"/>
          </p:cNvSpPr>
          <p:nvPr>
            <p:ph type="dt" sz="half" idx="10"/>
          </p:nvPr>
        </p:nvSpPr>
        <p:spPr/>
        <p:txBody>
          <a:bodyPr/>
          <a:lstStyle/>
          <a:p>
            <a:fld id="{CA89907D-6688-4CC9-B5D5-945A6480422A}" type="datetimeFigureOut">
              <a:rPr lang="en-US" smtClean="0"/>
              <a:t>10/1/2025</a:t>
            </a:fld>
            <a:endParaRPr lang="en-US"/>
          </a:p>
        </p:txBody>
      </p:sp>
      <p:sp>
        <p:nvSpPr>
          <p:cNvPr id="5" name="Footer Placeholder 4">
            <a:extLst>
              <a:ext uri="{FF2B5EF4-FFF2-40B4-BE49-F238E27FC236}">
                <a16:creationId xmlns:a16="http://schemas.microsoft.com/office/drawing/2014/main" id="{C4720FE3-4F48-6F5F-938E-0A4F20EB49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9E6797-7A84-4CBD-ED7C-334946E5EBE6}"/>
              </a:ext>
            </a:extLst>
          </p:cNvPr>
          <p:cNvSpPr>
            <a:spLocks noGrp="1"/>
          </p:cNvSpPr>
          <p:nvPr>
            <p:ph type="sldNum" sz="quarter" idx="12"/>
          </p:nvPr>
        </p:nvSpPr>
        <p:spPr/>
        <p:txBody>
          <a:bodyPr/>
          <a:lstStyle/>
          <a:p>
            <a:fld id="{0E82DC80-5A3E-43B2-A45D-7B3900B3E40E}" type="slidenum">
              <a:rPr lang="en-US" smtClean="0"/>
              <a:t>‹#›</a:t>
            </a:fld>
            <a:endParaRPr lang="en-US"/>
          </a:p>
        </p:txBody>
      </p:sp>
    </p:spTree>
    <p:extLst>
      <p:ext uri="{BB962C8B-B14F-4D97-AF65-F5344CB8AC3E}">
        <p14:creationId xmlns:p14="http://schemas.microsoft.com/office/powerpoint/2010/main" val="22800571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F5C41-30DA-BF5C-0F12-64D298C04D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559AF38-1C9D-C0BD-3638-7D7A42578F6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0038B6-1E49-5D5D-7FEB-7F692E27F63D}"/>
              </a:ext>
            </a:extLst>
          </p:cNvPr>
          <p:cNvSpPr>
            <a:spLocks noGrp="1"/>
          </p:cNvSpPr>
          <p:nvPr>
            <p:ph type="dt" sz="half" idx="10"/>
          </p:nvPr>
        </p:nvSpPr>
        <p:spPr/>
        <p:txBody>
          <a:bodyPr/>
          <a:lstStyle/>
          <a:p>
            <a:fld id="{CA89907D-6688-4CC9-B5D5-945A6480422A}" type="datetimeFigureOut">
              <a:rPr lang="en-US" smtClean="0"/>
              <a:t>10/1/2025</a:t>
            </a:fld>
            <a:endParaRPr lang="en-US"/>
          </a:p>
        </p:txBody>
      </p:sp>
      <p:sp>
        <p:nvSpPr>
          <p:cNvPr id="5" name="Footer Placeholder 4">
            <a:extLst>
              <a:ext uri="{FF2B5EF4-FFF2-40B4-BE49-F238E27FC236}">
                <a16:creationId xmlns:a16="http://schemas.microsoft.com/office/drawing/2014/main" id="{7F9B7F2D-2A45-CD14-74CC-00B53350E4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58E597-AFA4-606E-DFDD-4594DEB0AA32}"/>
              </a:ext>
            </a:extLst>
          </p:cNvPr>
          <p:cNvSpPr>
            <a:spLocks noGrp="1"/>
          </p:cNvSpPr>
          <p:nvPr>
            <p:ph type="sldNum" sz="quarter" idx="12"/>
          </p:nvPr>
        </p:nvSpPr>
        <p:spPr/>
        <p:txBody>
          <a:bodyPr/>
          <a:lstStyle/>
          <a:p>
            <a:fld id="{0E82DC80-5A3E-43B2-A45D-7B3900B3E40E}" type="slidenum">
              <a:rPr lang="en-US" smtClean="0"/>
              <a:t>‹#›</a:t>
            </a:fld>
            <a:endParaRPr lang="en-US"/>
          </a:p>
        </p:txBody>
      </p:sp>
    </p:spTree>
    <p:extLst>
      <p:ext uri="{BB962C8B-B14F-4D97-AF65-F5344CB8AC3E}">
        <p14:creationId xmlns:p14="http://schemas.microsoft.com/office/powerpoint/2010/main" val="2980230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CEB39-1062-8268-0484-23940DE8D48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F96A4C4-ACAD-8467-543F-9971EF87FDA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C976376-E29E-E45C-C80F-B80CE1873866}"/>
              </a:ext>
            </a:extLst>
          </p:cNvPr>
          <p:cNvSpPr>
            <a:spLocks noGrp="1"/>
          </p:cNvSpPr>
          <p:nvPr>
            <p:ph type="dt" sz="half" idx="10"/>
          </p:nvPr>
        </p:nvSpPr>
        <p:spPr/>
        <p:txBody>
          <a:bodyPr/>
          <a:lstStyle/>
          <a:p>
            <a:fld id="{CA89907D-6688-4CC9-B5D5-945A6480422A}" type="datetimeFigureOut">
              <a:rPr lang="en-US" smtClean="0"/>
              <a:t>10/1/2025</a:t>
            </a:fld>
            <a:endParaRPr lang="en-US"/>
          </a:p>
        </p:txBody>
      </p:sp>
      <p:sp>
        <p:nvSpPr>
          <p:cNvPr id="5" name="Footer Placeholder 4">
            <a:extLst>
              <a:ext uri="{FF2B5EF4-FFF2-40B4-BE49-F238E27FC236}">
                <a16:creationId xmlns:a16="http://schemas.microsoft.com/office/drawing/2014/main" id="{0421F8D4-EDC4-ABBC-53BF-D38BB5D8A7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4CFAC0-D7A5-9DFB-A5AA-BF689B1CE3F8}"/>
              </a:ext>
            </a:extLst>
          </p:cNvPr>
          <p:cNvSpPr>
            <a:spLocks noGrp="1"/>
          </p:cNvSpPr>
          <p:nvPr>
            <p:ph type="sldNum" sz="quarter" idx="12"/>
          </p:nvPr>
        </p:nvSpPr>
        <p:spPr/>
        <p:txBody>
          <a:bodyPr/>
          <a:lstStyle/>
          <a:p>
            <a:fld id="{0E82DC80-5A3E-43B2-A45D-7B3900B3E40E}" type="slidenum">
              <a:rPr lang="en-US" smtClean="0"/>
              <a:t>‹#›</a:t>
            </a:fld>
            <a:endParaRPr lang="en-US"/>
          </a:p>
        </p:txBody>
      </p:sp>
    </p:spTree>
    <p:extLst>
      <p:ext uri="{BB962C8B-B14F-4D97-AF65-F5344CB8AC3E}">
        <p14:creationId xmlns:p14="http://schemas.microsoft.com/office/powerpoint/2010/main" val="36065536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4F00B-75E0-F801-52B9-C74D9F0A825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A65A1AF-0140-B5F2-91A1-349B56C280A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5D2F1CE-50ED-9735-B60F-6FFA516D74B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4B7904-9FEC-69FD-6AF9-B52BFFF0E551}"/>
              </a:ext>
            </a:extLst>
          </p:cNvPr>
          <p:cNvSpPr>
            <a:spLocks noGrp="1"/>
          </p:cNvSpPr>
          <p:nvPr>
            <p:ph type="dt" sz="half" idx="10"/>
          </p:nvPr>
        </p:nvSpPr>
        <p:spPr/>
        <p:txBody>
          <a:bodyPr/>
          <a:lstStyle/>
          <a:p>
            <a:fld id="{CA89907D-6688-4CC9-B5D5-945A6480422A}" type="datetimeFigureOut">
              <a:rPr lang="en-US" smtClean="0"/>
              <a:t>10/1/2025</a:t>
            </a:fld>
            <a:endParaRPr lang="en-US"/>
          </a:p>
        </p:txBody>
      </p:sp>
      <p:sp>
        <p:nvSpPr>
          <p:cNvPr id="6" name="Footer Placeholder 5">
            <a:extLst>
              <a:ext uri="{FF2B5EF4-FFF2-40B4-BE49-F238E27FC236}">
                <a16:creationId xmlns:a16="http://schemas.microsoft.com/office/drawing/2014/main" id="{D16DC564-A926-3C02-E5B3-3202D01FF2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CB78B1-2485-70AB-89DA-EF1AB4905240}"/>
              </a:ext>
            </a:extLst>
          </p:cNvPr>
          <p:cNvSpPr>
            <a:spLocks noGrp="1"/>
          </p:cNvSpPr>
          <p:nvPr>
            <p:ph type="sldNum" sz="quarter" idx="12"/>
          </p:nvPr>
        </p:nvSpPr>
        <p:spPr/>
        <p:txBody>
          <a:bodyPr/>
          <a:lstStyle/>
          <a:p>
            <a:fld id="{0E82DC80-5A3E-43B2-A45D-7B3900B3E40E}" type="slidenum">
              <a:rPr lang="en-US" smtClean="0"/>
              <a:t>‹#›</a:t>
            </a:fld>
            <a:endParaRPr lang="en-US"/>
          </a:p>
        </p:txBody>
      </p:sp>
    </p:spTree>
    <p:extLst>
      <p:ext uri="{BB962C8B-B14F-4D97-AF65-F5344CB8AC3E}">
        <p14:creationId xmlns:p14="http://schemas.microsoft.com/office/powerpoint/2010/main" val="39727537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AFC13-32CC-427B-484C-A73C790D61C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F49AAE7-1FA5-0280-1F40-DF774C5A6C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49F9466-CF31-E390-2854-BCB26FEFFA1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E5AC949-A6BE-598B-F437-146CC54D5F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E6A4253-F685-742E-E216-3DFA3313312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7D90532-A83B-9E5B-3FC7-83D5DFFA8B5E}"/>
              </a:ext>
            </a:extLst>
          </p:cNvPr>
          <p:cNvSpPr>
            <a:spLocks noGrp="1"/>
          </p:cNvSpPr>
          <p:nvPr>
            <p:ph type="dt" sz="half" idx="10"/>
          </p:nvPr>
        </p:nvSpPr>
        <p:spPr/>
        <p:txBody>
          <a:bodyPr/>
          <a:lstStyle/>
          <a:p>
            <a:fld id="{CA89907D-6688-4CC9-B5D5-945A6480422A}" type="datetimeFigureOut">
              <a:rPr lang="en-US" smtClean="0"/>
              <a:t>10/1/2025</a:t>
            </a:fld>
            <a:endParaRPr lang="en-US"/>
          </a:p>
        </p:txBody>
      </p:sp>
      <p:sp>
        <p:nvSpPr>
          <p:cNvPr id="8" name="Footer Placeholder 7">
            <a:extLst>
              <a:ext uri="{FF2B5EF4-FFF2-40B4-BE49-F238E27FC236}">
                <a16:creationId xmlns:a16="http://schemas.microsoft.com/office/drawing/2014/main" id="{C860A93C-ED3F-09E9-6109-BBE8C61DE13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1709E17-69E7-24D1-B1DE-2DDC1C2A859B}"/>
              </a:ext>
            </a:extLst>
          </p:cNvPr>
          <p:cNvSpPr>
            <a:spLocks noGrp="1"/>
          </p:cNvSpPr>
          <p:nvPr>
            <p:ph type="sldNum" sz="quarter" idx="12"/>
          </p:nvPr>
        </p:nvSpPr>
        <p:spPr/>
        <p:txBody>
          <a:bodyPr/>
          <a:lstStyle/>
          <a:p>
            <a:fld id="{0E82DC80-5A3E-43B2-A45D-7B3900B3E40E}" type="slidenum">
              <a:rPr lang="en-US" smtClean="0"/>
              <a:t>‹#›</a:t>
            </a:fld>
            <a:endParaRPr lang="en-US"/>
          </a:p>
        </p:txBody>
      </p:sp>
    </p:spTree>
    <p:extLst>
      <p:ext uri="{BB962C8B-B14F-4D97-AF65-F5344CB8AC3E}">
        <p14:creationId xmlns:p14="http://schemas.microsoft.com/office/powerpoint/2010/main" val="38862074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66A19-4880-211B-06BA-018B9DD82B4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511F591-D2BD-3EDF-69AE-15EC48883C97}"/>
              </a:ext>
            </a:extLst>
          </p:cNvPr>
          <p:cNvSpPr>
            <a:spLocks noGrp="1"/>
          </p:cNvSpPr>
          <p:nvPr>
            <p:ph type="dt" sz="half" idx="10"/>
          </p:nvPr>
        </p:nvSpPr>
        <p:spPr/>
        <p:txBody>
          <a:bodyPr/>
          <a:lstStyle/>
          <a:p>
            <a:fld id="{CA89907D-6688-4CC9-B5D5-945A6480422A}" type="datetimeFigureOut">
              <a:rPr lang="en-US" smtClean="0"/>
              <a:t>10/1/2025</a:t>
            </a:fld>
            <a:endParaRPr lang="en-US"/>
          </a:p>
        </p:txBody>
      </p:sp>
      <p:sp>
        <p:nvSpPr>
          <p:cNvPr id="4" name="Footer Placeholder 3">
            <a:extLst>
              <a:ext uri="{FF2B5EF4-FFF2-40B4-BE49-F238E27FC236}">
                <a16:creationId xmlns:a16="http://schemas.microsoft.com/office/drawing/2014/main" id="{61435FA6-5F97-CEB3-D97E-9839885FBF2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11DBECC-00A4-63EB-4DD9-17D85010C5B2}"/>
              </a:ext>
            </a:extLst>
          </p:cNvPr>
          <p:cNvSpPr>
            <a:spLocks noGrp="1"/>
          </p:cNvSpPr>
          <p:nvPr>
            <p:ph type="sldNum" sz="quarter" idx="12"/>
          </p:nvPr>
        </p:nvSpPr>
        <p:spPr/>
        <p:txBody>
          <a:bodyPr/>
          <a:lstStyle/>
          <a:p>
            <a:fld id="{0E82DC80-5A3E-43B2-A45D-7B3900B3E40E}" type="slidenum">
              <a:rPr lang="en-US" smtClean="0"/>
              <a:t>‹#›</a:t>
            </a:fld>
            <a:endParaRPr lang="en-US"/>
          </a:p>
        </p:txBody>
      </p:sp>
    </p:spTree>
    <p:extLst>
      <p:ext uri="{BB962C8B-B14F-4D97-AF65-F5344CB8AC3E}">
        <p14:creationId xmlns:p14="http://schemas.microsoft.com/office/powerpoint/2010/main" val="39764854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A8DF2D0-1A3B-8173-32BC-B3FE80E8974A}"/>
              </a:ext>
            </a:extLst>
          </p:cNvPr>
          <p:cNvSpPr>
            <a:spLocks noGrp="1"/>
          </p:cNvSpPr>
          <p:nvPr>
            <p:ph type="dt" sz="half" idx="10"/>
          </p:nvPr>
        </p:nvSpPr>
        <p:spPr/>
        <p:txBody>
          <a:bodyPr/>
          <a:lstStyle/>
          <a:p>
            <a:fld id="{CA89907D-6688-4CC9-B5D5-945A6480422A}" type="datetimeFigureOut">
              <a:rPr lang="en-US" smtClean="0"/>
              <a:t>10/1/2025</a:t>
            </a:fld>
            <a:endParaRPr lang="en-US"/>
          </a:p>
        </p:txBody>
      </p:sp>
      <p:sp>
        <p:nvSpPr>
          <p:cNvPr id="3" name="Footer Placeholder 2">
            <a:extLst>
              <a:ext uri="{FF2B5EF4-FFF2-40B4-BE49-F238E27FC236}">
                <a16:creationId xmlns:a16="http://schemas.microsoft.com/office/drawing/2014/main" id="{306F0AF8-7069-4081-7559-6F7DCE624DB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38FE0C8-655A-FF6D-7B94-07B197E5B1E1}"/>
              </a:ext>
            </a:extLst>
          </p:cNvPr>
          <p:cNvSpPr>
            <a:spLocks noGrp="1"/>
          </p:cNvSpPr>
          <p:nvPr>
            <p:ph type="sldNum" sz="quarter" idx="12"/>
          </p:nvPr>
        </p:nvSpPr>
        <p:spPr/>
        <p:txBody>
          <a:bodyPr/>
          <a:lstStyle/>
          <a:p>
            <a:fld id="{0E82DC80-5A3E-43B2-A45D-7B3900B3E40E}" type="slidenum">
              <a:rPr lang="en-US" smtClean="0"/>
              <a:t>‹#›</a:t>
            </a:fld>
            <a:endParaRPr lang="en-US"/>
          </a:p>
        </p:txBody>
      </p:sp>
    </p:spTree>
    <p:extLst>
      <p:ext uri="{BB962C8B-B14F-4D97-AF65-F5344CB8AC3E}">
        <p14:creationId xmlns:p14="http://schemas.microsoft.com/office/powerpoint/2010/main" val="23159227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27820-B235-B015-6336-667FE37A52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069ECAC-9361-FFBF-27E9-54B645D4556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1A7ABCB-55B8-24E1-F69E-0DC7BCEF4B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15EB3F-0991-2241-F9D8-0EE6473B5F7A}"/>
              </a:ext>
            </a:extLst>
          </p:cNvPr>
          <p:cNvSpPr>
            <a:spLocks noGrp="1"/>
          </p:cNvSpPr>
          <p:nvPr>
            <p:ph type="dt" sz="half" idx="10"/>
          </p:nvPr>
        </p:nvSpPr>
        <p:spPr/>
        <p:txBody>
          <a:bodyPr/>
          <a:lstStyle/>
          <a:p>
            <a:fld id="{CA89907D-6688-4CC9-B5D5-945A6480422A}" type="datetimeFigureOut">
              <a:rPr lang="en-US" smtClean="0"/>
              <a:t>10/1/2025</a:t>
            </a:fld>
            <a:endParaRPr lang="en-US"/>
          </a:p>
        </p:txBody>
      </p:sp>
      <p:sp>
        <p:nvSpPr>
          <p:cNvPr id="6" name="Footer Placeholder 5">
            <a:extLst>
              <a:ext uri="{FF2B5EF4-FFF2-40B4-BE49-F238E27FC236}">
                <a16:creationId xmlns:a16="http://schemas.microsoft.com/office/drawing/2014/main" id="{1C5A80ED-EF38-99F3-C037-287A9C94BC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89210F6-BB67-A732-7F59-DB2202123F5F}"/>
              </a:ext>
            </a:extLst>
          </p:cNvPr>
          <p:cNvSpPr>
            <a:spLocks noGrp="1"/>
          </p:cNvSpPr>
          <p:nvPr>
            <p:ph type="sldNum" sz="quarter" idx="12"/>
          </p:nvPr>
        </p:nvSpPr>
        <p:spPr/>
        <p:txBody>
          <a:bodyPr/>
          <a:lstStyle/>
          <a:p>
            <a:fld id="{0E82DC80-5A3E-43B2-A45D-7B3900B3E40E}" type="slidenum">
              <a:rPr lang="en-US" smtClean="0"/>
              <a:t>‹#›</a:t>
            </a:fld>
            <a:endParaRPr lang="en-US"/>
          </a:p>
        </p:txBody>
      </p:sp>
    </p:spTree>
    <p:extLst>
      <p:ext uri="{BB962C8B-B14F-4D97-AF65-F5344CB8AC3E}">
        <p14:creationId xmlns:p14="http://schemas.microsoft.com/office/powerpoint/2010/main" val="17958655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8EEA5-06CB-302D-0616-71F6C557CB0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0C2A24A-5B6E-AD61-739C-9B67967318F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4EEBCAD-EDBE-0319-4690-7AD8577476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1728BA-E964-96A1-8967-B14AE0B44495}"/>
              </a:ext>
            </a:extLst>
          </p:cNvPr>
          <p:cNvSpPr>
            <a:spLocks noGrp="1"/>
          </p:cNvSpPr>
          <p:nvPr>
            <p:ph type="dt" sz="half" idx="10"/>
          </p:nvPr>
        </p:nvSpPr>
        <p:spPr/>
        <p:txBody>
          <a:bodyPr/>
          <a:lstStyle/>
          <a:p>
            <a:fld id="{CA89907D-6688-4CC9-B5D5-945A6480422A}" type="datetimeFigureOut">
              <a:rPr lang="en-US" smtClean="0"/>
              <a:t>10/1/2025</a:t>
            </a:fld>
            <a:endParaRPr lang="en-US"/>
          </a:p>
        </p:txBody>
      </p:sp>
      <p:sp>
        <p:nvSpPr>
          <p:cNvPr id="6" name="Footer Placeholder 5">
            <a:extLst>
              <a:ext uri="{FF2B5EF4-FFF2-40B4-BE49-F238E27FC236}">
                <a16:creationId xmlns:a16="http://schemas.microsoft.com/office/drawing/2014/main" id="{10FF3CA7-57D6-7767-A356-C3760CFB5A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6DCC5A-60DA-8119-4267-5F16FF9A4E2E}"/>
              </a:ext>
            </a:extLst>
          </p:cNvPr>
          <p:cNvSpPr>
            <a:spLocks noGrp="1"/>
          </p:cNvSpPr>
          <p:nvPr>
            <p:ph type="sldNum" sz="quarter" idx="12"/>
          </p:nvPr>
        </p:nvSpPr>
        <p:spPr/>
        <p:txBody>
          <a:bodyPr/>
          <a:lstStyle/>
          <a:p>
            <a:fld id="{0E82DC80-5A3E-43B2-A45D-7B3900B3E40E}" type="slidenum">
              <a:rPr lang="en-US" smtClean="0"/>
              <a:t>‹#›</a:t>
            </a:fld>
            <a:endParaRPr lang="en-US"/>
          </a:p>
        </p:txBody>
      </p:sp>
    </p:spTree>
    <p:extLst>
      <p:ext uri="{BB962C8B-B14F-4D97-AF65-F5344CB8AC3E}">
        <p14:creationId xmlns:p14="http://schemas.microsoft.com/office/powerpoint/2010/main" val="3362385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862ED-8EEB-CF5C-F1B7-7A985BFDAAD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340447D-E111-860C-F3ED-2607BEFB8DD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4E21AE-B3F4-004A-5FA1-141BFA8BF488}"/>
              </a:ext>
            </a:extLst>
          </p:cNvPr>
          <p:cNvSpPr>
            <a:spLocks noGrp="1"/>
          </p:cNvSpPr>
          <p:nvPr>
            <p:ph type="dt" sz="half" idx="10"/>
          </p:nvPr>
        </p:nvSpPr>
        <p:spPr/>
        <p:txBody>
          <a:bodyPr/>
          <a:lstStyle/>
          <a:p>
            <a:fld id="{CA89907D-6688-4CC9-B5D5-945A6480422A}" type="datetimeFigureOut">
              <a:rPr lang="en-US" smtClean="0"/>
              <a:t>10/1/2025</a:t>
            </a:fld>
            <a:endParaRPr lang="en-US"/>
          </a:p>
        </p:txBody>
      </p:sp>
      <p:sp>
        <p:nvSpPr>
          <p:cNvPr id="5" name="Footer Placeholder 4">
            <a:extLst>
              <a:ext uri="{FF2B5EF4-FFF2-40B4-BE49-F238E27FC236}">
                <a16:creationId xmlns:a16="http://schemas.microsoft.com/office/drawing/2014/main" id="{E125F2A7-D5F3-2C24-1176-065AC9400F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FBF376-A3A3-32DC-E824-8F34DBF0D304}"/>
              </a:ext>
            </a:extLst>
          </p:cNvPr>
          <p:cNvSpPr>
            <a:spLocks noGrp="1"/>
          </p:cNvSpPr>
          <p:nvPr>
            <p:ph type="sldNum" sz="quarter" idx="12"/>
          </p:nvPr>
        </p:nvSpPr>
        <p:spPr/>
        <p:txBody>
          <a:bodyPr/>
          <a:lstStyle/>
          <a:p>
            <a:fld id="{0E82DC80-5A3E-43B2-A45D-7B3900B3E40E}" type="slidenum">
              <a:rPr lang="en-US" smtClean="0"/>
              <a:t>‹#›</a:t>
            </a:fld>
            <a:endParaRPr lang="en-US"/>
          </a:p>
        </p:txBody>
      </p:sp>
    </p:spTree>
    <p:extLst>
      <p:ext uri="{BB962C8B-B14F-4D97-AF65-F5344CB8AC3E}">
        <p14:creationId xmlns:p14="http://schemas.microsoft.com/office/powerpoint/2010/main" val="16792871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B3198BE-59FE-6F1B-000C-9C3ADB998F5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1E9535E-68E5-C240-CC8E-83FC3BF84CC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FAA5F4-7EA1-961C-E26C-1E0AD64D61F3}"/>
              </a:ext>
            </a:extLst>
          </p:cNvPr>
          <p:cNvSpPr>
            <a:spLocks noGrp="1"/>
          </p:cNvSpPr>
          <p:nvPr>
            <p:ph type="dt" sz="half" idx="10"/>
          </p:nvPr>
        </p:nvSpPr>
        <p:spPr/>
        <p:txBody>
          <a:bodyPr/>
          <a:lstStyle/>
          <a:p>
            <a:fld id="{CA89907D-6688-4CC9-B5D5-945A6480422A}" type="datetimeFigureOut">
              <a:rPr lang="en-US" smtClean="0"/>
              <a:t>10/1/2025</a:t>
            </a:fld>
            <a:endParaRPr lang="en-US"/>
          </a:p>
        </p:txBody>
      </p:sp>
      <p:sp>
        <p:nvSpPr>
          <p:cNvPr id="5" name="Footer Placeholder 4">
            <a:extLst>
              <a:ext uri="{FF2B5EF4-FFF2-40B4-BE49-F238E27FC236}">
                <a16:creationId xmlns:a16="http://schemas.microsoft.com/office/drawing/2014/main" id="{63752F85-E204-12DC-D44E-DB720C2997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9FA0A6-D83B-E81C-3077-ADFEAF37D7E5}"/>
              </a:ext>
            </a:extLst>
          </p:cNvPr>
          <p:cNvSpPr>
            <a:spLocks noGrp="1"/>
          </p:cNvSpPr>
          <p:nvPr>
            <p:ph type="sldNum" sz="quarter" idx="12"/>
          </p:nvPr>
        </p:nvSpPr>
        <p:spPr/>
        <p:txBody>
          <a:bodyPr/>
          <a:lstStyle/>
          <a:p>
            <a:fld id="{0E82DC80-5A3E-43B2-A45D-7B3900B3E40E}" type="slidenum">
              <a:rPr lang="en-US" smtClean="0"/>
              <a:t>‹#›</a:t>
            </a:fld>
            <a:endParaRPr lang="en-US"/>
          </a:p>
        </p:txBody>
      </p:sp>
    </p:spTree>
    <p:extLst>
      <p:ext uri="{BB962C8B-B14F-4D97-AF65-F5344CB8AC3E}">
        <p14:creationId xmlns:p14="http://schemas.microsoft.com/office/powerpoint/2010/main" val="40200979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D74E3E-DFCE-04C9-649C-46F92E7980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CA127C3-F98C-2782-22DA-D82D20590C8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715213-BFE5-D13D-6DD5-F774521B4B9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A89907D-6688-4CC9-B5D5-945A6480422A}" type="datetimeFigureOut">
              <a:rPr lang="en-US" smtClean="0"/>
              <a:t>10/1/2025</a:t>
            </a:fld>
            <a:endParaRPr lang="en-US"/>
          </a:p>
        </p:txBody>
      </p:sp>
      <p:sp>
        <p:nvSpPr>
          <p:cNvPr id="5" name="Footer Placeholder 4">
            <a:extLst>
              <a:ext uri="{FF2B5EF4-FFF2-40B4-BE49-F238E27FC236}">
                <a16:creationId xmlns:a16="http://schemas.microsoft.com/office/drawing/2014/main" id="{A4EAD4E5-3C7B-5B00-742A-629B38C3D93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474F000-23BB-49D4-5FC2-212FAC04B0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E82DC80-5A3E-43B2-A45D-7B3900B3E40E}" type="slidenum">
              <a:rPr lang="en-US" smtClean="0"/>
              <a:t>‹#›</a:t>
            </a:fld>
            <a:endParaRPr lang="en-US"/>
          </a:p>
        </p:txBody>
      </p:sp>
    </p:spTree>
    <p:extLst>
      <p:ext uri="{BB962C8B-B14F-4D97-AF65-F5344CB8AC3E}">
        <p14:creationId xmlns:p14="http://schemas.microsoft.com/office/powerpoint/2010/main" val="21127481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4/relationships/chartEx" Target="../charts/chartEx1.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1FADC-6B89-3FF4-2A33-3B66E688D3D0}"/>
              </a:ext>
            </a:extLst>
          </p:cNvPr>
          <p:cNvSpPr>
            <a:spLocks noGrp="1"/>
          </p:cNvSpPr>
          <p:nvPr>
            <p:ph type="title"/>
          </p:nvPr>
        </p:nvSpPr>
        <p:spPr>
          <a:xfrm>
            <a:off x="838200" y="365126"/>
            <a:ext cx="10515600" cy="846818"/>
          </a:xfrm>
        </p:spPr>
        <p:txBody>
          <a:bodyPr>
            <a:normAutofit/>
          </a:bodyPr>
          <a:lstStyle/>
          <a:p>
            <a:pPr algn="ctr"/>
            <a:r>
              <a:rPr lang="en-US" sz="3200" b="1" dirty="0">
                <a:latin typeface="Arial Black" panose="020B0A04020102020204" pitchFamily="34" charset="0"/>
              </a:rPr>
              <a:t>INTRODUCTION AND OBJECTIVES</a:t>
            </a:r>
          </a:p>
        </p:txBody>
      </p:sp>
      <p:sp>
        <p:nvSpPr>
          <p:cNvPr id="3" name="Content Placeholder 2">
            <a:extLst>
              <a:ext uri="{FF2B5EF4-FFF2-40B4-BE49-F238E27FC236}">
                <a16:creationId xmlns:a16="http://schemas.microsoft.com/office/drawing/2014/main" id="{6B936355-9674-6F74-090B-1C236139162D}"/>
              </a:ext>
            </a:extLst>
          </p:cNvPr>
          <p:cNvSpPr>
            <a:spLocks noGrp="1"/>
          </p:cNvSpPr>
          <p:nvPr>
            <p:ph idx="1"/>
          </p:nvPr>
        </p:nvSpPr>
        <p:spPr>
          <a:xfrm>
            <a:off x="838200" y="1211944"/>
            <a:ext cx="11099800" cy="5280929"/>
          </a:xfrm>
          <a:solidFill>
            <a:schemeClr val="accent6">
              <a:lumMod val="40000"/>
              <a:lumOff val="60000"/>
            </a:schemeClr>
          </a:solidFill>
        </p:spPr>
        <p:txBody>
          <a:bodyPr>
            <a:norm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Black" panose="020B0A04020102020204" pitchFamily="34" charset="0"/>
              </a:rPr>
              <a:t>This presentation is built on an exploratory data analysis (EDA) of company registration records, covering the period 2021 to 2025. The dataset includes information on UK-based businesses as well as foreign-registered companies, giving a broad view of business activity across different jurisdictions. By analyzing company registration, turnover, and closure patterns, this study aims to uncover meaningful insights into how businesses are performing over time, and how these trends may indicate tax compliance risks or opportunities for improved policy-making.</a:t>
            </a:r>
            <a:endParaRPr lang="en-US" altLang="en-US" sz="1400" dirty="0">
              <a:latin typeface="Arial Black" panose="020B0A040201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r>
              <a:rPr lang="en-US" altLang="en-US" sz="1800" dirty="0">
                <a:latin typeface="Arial Black" panose="020B0A04020102020204" pitchFamily="34" charset="0"/>
              </a:rPr>
              <a:t>Objectives </a:t>
            </a:r>
          </a:p>
          <a:p>
            <a:pPr>
              <a:lnSpc>
                <a:spcPct val="150000"/>
              </a:lnSpc>
            </a:pPr>
            <a:r>
              <a:rPr lang="en-US" sz="1400" dirty="0">
                <a:latin typeface="Arial Black" panose="020B0A04020102020204" pitchFamily="34" charset="0"/>
              </a:rPr>
              <a:t>Analyze trends in turnover, sector stability, and company closures</a:t>
            </a:r>
          </a:p>
          <a:p>
            <a:pPr>
              <a:lnSpc>
                <a:spcPct val="150000"/>
              </a:lnSpc>
            </a:pPr>
            <a:r>
              <a:rPr lang="en-US" sz="1400" dirty="0">
                <a:latin typeface="Arial Black" panose="020B0A04020102020204" pitchFamily="34" charset="0"/>
              </a:rPr>
              <a:t>Highlight potential risks of non-compliance and tax revenue loss</a:t>
            </a:r>
          </a:p>
          <a:p>
            <a:pPr>
              <a:lnSpc>
                <a:spcPct val="150000"/>
              </a:lnSpc>
            </a:pPr>
            <a:r>
              <a:rPr lang="en-US" sz="1400" dirty="0">
                <a:latin typeface="Arial Black" panose="020B0A04020102020204" pitchFamily="34" charset="0"/>
              </a:rPr>
              <a:t>Recommend data-driven actions for HMRC and tax planning</a:t>
            </a:r>
          </a:p>
          <a:p>
            <a:pPr marL="0" indent="0">
              <a:lnSpc>
                <a:spcPct val="150000"/>
              </a:lnSpc>
              <a:buNone/>
            </a:pPr>
            <a:r>
              <a:rPr lang="en-US" sz="1400" dirty="0">
                <a:latin typeface="Arial Black" panose="020B0A04020102020204" pitchFamily="34" charset="0"/>
              </a:rPr>
              <a:t>Data Analysis Tools Used: Microsoft Excel (Power Query, Pivot Tables), PowerPoint</a:t>
            </a:r>
          </a:p>
          <a:p>
            <a:pPr marL="0" indent="0">
              <a:lnSpc>
                <a:spcPct val="150000"/>
              </a:lnSpc>
              <a:buNone/>
            </a:pPr>
            <a:r>
              <a:rPr lang="en-US" sz="1400" dirty="0">
                <a:latin typeface="Arial Black" panose="020B0A04020102020204" pitchFamily="34" charset="0"/>
              </a:rPr>
              <a:t>Analysis Process: Data loading → Cleaning → Modeling → Analysis → Pivot Table reporting → Visualization → Presentation</a:t>
            </a:r>
          </a:p>
        </p:txBody>
      </p:sp>
    </p:spTree>
    <p:extLst>
      <p:ext uri="{BB962C8B-B14F-4D97-AF65-F5344CB8AC3E}">
        <p14:creationId xmlns:p14="http://schemas.microsoft.com/office/powerpoint/2010/main" val="24714375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F96BF-3044-13CE-0689-DE3C5633BDB0}"/>
              </a:ext>
            </a:extLst>
          </p:cNvPr>
          <p:cNvSpPr>
            <a:spLocks noGrp="1"/>
          </p:cNvSpPr>
          <p:nvPr>
            <p:ph type="title"/>
          </p:nvPr>
        </p:nvSpPr>
        <p:spPr>
          <a:xfrm>
            <a:off x="732632" y="264319"/>
            <a:ext cx="3932237" cy="1064419"/>
          </a:xfrm>
          <a:solidFill>
            <a:schemeClr val="accent1">
              <a:lumMod val="40000"/>
              <a:lumOff val="60000"/>
            </a:schemeClr>
          </a:solidFill>
        </p:spPr>
        <p:txBody>
          <a:bodyPr>
            <a:normAutofit fontScale="90000"/>
          </a:bodyPr>
          <a:lstStyle/>
          <a:p>
            <a:pPr>
              <a:lnSpc>
                <a:spcPct val="150000"/>
              </a:lnSpc>
            </a:pPr>
            <a:r>
              <a:rPr lang="en-US" sz="1800" dirty="0">
                <a:latin typeface="Arial Black" panose="020B0A04020102020204" pitchFamily="34" charset="0"/>
              </a:rPr>
              <a:t>1. Which sector shows the most consistent year-on-year turnover growth or decline?</a:t>
            </a:r>
          </a:p>
        </p:txBody>
      </p:sp>
      <mc:AlternateContent xmlns:mc="http://schemas.openxmlformats.org/markup-compatibility/2006" xmlns:cx2="http://schemas.microsoft.com/office/drawing/2015/10/21/chartex">
        <mc:Choice Requires="cx2">
          <p:graphicFrame>
            <p:nvGraphicFramePr>
              <p:cNvPr id="5" name="Content Placeholder 4">
                <a:extLst>
                  <a:ext uri="{FF2B5EF4-FFF2-40B4-BE49-F238E27FC236}">
                    <a16:creationId xmlns:a16="http://schemas.microsoft.com/office/drawing/2014/main" id="{50B66F24-B807-E305-F569-CF8F1B527380}"/>
                  </a:ext>
                </a:extLst>
              </p:cNvPr>
              <p:cNvGraphicFramePr>
                <a:graphicFrameLocks noGrp="1"/>
              </p:cNvGraphicFramePr>
              <p:nvPr>
                <p:ph idx="1"/>
                <p:extLst>
                  <p:ext uri="{D42A27DB-BD31-4B8C-83A1-F6EECF244321}">
                    <p14:modId xmlns:p14="http://schemas.microsoft.com/office/powerpoint/2010/main" val="3360006014"/>
                  </p:ext>
                </p:extLst>
              </p:nvPr>
            </p:nvGraphicFramePr>
            <p:xfrm>
              <a:off x="5183188" y="987425"/>
              <a:ext cx="6172200" cy="4873625"/>
            </p:xfrm>
            <a:graphic>
              <a:graphicData uri="http://schemas.microsoft.com/office/drawing/2014/chartex">
                <cx:chart xmlns:cx="http://schemas.microsoft.com/office/drawing/2014/chartex" xmlns:r="http://schemas.openxmlformats.org/officeDocument/2006/relationships" r:id="rId2"/>
              </a:graphicData>
            </a:graphic>
          </p:graphicFrame>
        </mc:Choice>
        <mc:Fallback xmlns="">
          <p:pic>
            <p:nvPicPr>
              <p:cNvPr id="5" name="Content Placeholder 4">
                <a:extLst>
                  <a:ext uri="{FF2B5EF4-FFF2-40B4-BE49-F238E27FC236}">
                    <a16:creationId xmlns:a16="http://schemas.microsoft.com/office/drawing/2014/main" id="{50B66F24-B807-E305-F569-CF8F1B527380}"/>
                  </a:ext>
                </a:extLst>
              </p:cNvPr>
              <p:cNvPicPr>
                <a:picLocks noGrp="1" noRot="1" noChangeAspect="1" noMove="1" noResize="1" noEditPoints="1" noAdjustHandles="1" noChangeArrowheads="1" noChangeShapeType="1"/>
              </p:cNvPicPr>
              <p:nvPr/>
            </p:nvPicPr>
            <p:blipFill>
              <a:blip r:embed="rId3"/>
              <a:stretch>
                <a:fillRect/>
              </a:stretch>
            </p:blipFill>
            <p:spPr>
              <a:xfrm>
                <a:off x="5183188" y="987425"/>
                <a:ext cx="6172200" cy="4873625"/>
              </a:xfrm>
              <a:prstGeom prst="rect">
                <a:avLst/>
              </a:prstGeom>
            </p:spPr>
          </p:pic>
        </mc:Fallback>
      </mc:AlternateContent>
      <p:sp>
        <p:nvSpPr>
          <p:cNvPr id="8" name="Rectangle 1">
            <a:extLst>
              <a:ext uri="{FF2B5EF4-FFF2-40B4-BE49-F238E27FC236}">
                <a16:creationId xmlns:a16="http://schemas.microsoft.com/office/drawing/2014/main" id="{5ACEB61A-AB69-1DF8-DD3A-1AF6FFCB2828}"/>
              </a:ext>
            </a:extLst>
          </p:cNvPr>
          <p:cNvSpPr>
            <a:spLocks noGrp="1" noChangeArrowheads="1"/>
          </p:cNvSpPr>
          <p:nvPr>
            <p:ph type="body" sz="half" idx="2"/>
          </p:nvPr>
        </p:nvSpPr>
        <p:spPr bwMode="auto">
          <a:xfrm>
            <a:off x="839788" y="1946231"/>
            <a:ext cx="3306762" cy="4033925"/>
          </a:xfrm>
          <a:prstGeom prst="rect">
            <a:avLst/>
          </a:prstGeom>
          <a:solidFill>
            <a:schemeClr val="accent4">
              <a:lumMod val="20000"/>
              <a:lumOff val="80000"/>
            </a:schemeClr>
          </a:solidFill>
          <a:ln w="9525">
            <a:solidFill>
              <a:schemeClr val="tx1"/>
            </a:solid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5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Black" panose="020B0A04020102020204" pitchFamily="34" charset="0"/>
              </a:rPr>
              <a:t>T</a:t>
            </a:r>
            <a:r>
              <a:rPr kumimoji="0" lang="en-US" altLang="en-US" sz="1200" b="0" i="0" u="none" strike="noStrike" cap="none" normalizeH="0" baseline="0" dirty="0">
                <a:ln>
                  <a:noFill/>
                </a:ln>
                <a:solidFill>
                  <a:schemeClr val="tx1"/>
                </a:solidFill>
                <a:effectLst/>
                <a:latin typeface="Arial Black" panose="020B0A04020102020204" pitchFamily="34" charset="0"/>
              </a:rPr>
              <a:t>he </a:t>
            </a:r>
            <a:r>
              <a:rPr kumimoji="0" lang="en-US" altLang="en-US" sz="1200" b="1" i="0" u="none" strike="noStrike" cap="none" normalizeH="0" baseline="0" dirty="0">
                <a:ln>
                  <a:noFill/>
                </a:ln>
                <a:solidFill>
                  <a:schemeClr val="tx1"/>
                </a:solidFill>
                <a:effectLst/>
                <a:latin typeface="Arial Black" panose="020B0A04020102020204" pitchFamily="34" charset="0"/>
              </a:rPr>
              <a:t>Construction Sector</a:t>
            </a:r>
            <a:r>
              <a:rPr kumimoji="0" lang="en-US" altLang="en-US" sz="1200" b="0" i="0" u="none" strike="noStrike" cap="none" normalizeH="0" baseline="0" dirty="0">
                <a:ln>
                  <a:noFill/>
                </a:ln>
                <a:solidFill>
                  <a:schemeClr val="tx1"/>
                </a:solidFill>
                <a:effectLst/>
                <a:latin typeface="Arial Black" panose="020B0A04020102020204" pitchFamily="34" charset="0"/>
              </a:rPr>
              <a:t> demonstrates the most consistent </a:t>
            </a:r>
            <a:r>
              <a:rPr kumimoji="0" lang="en-US" altLang="en-US" sz="1400" b="0" i="0" u="none" strike="noStrike" cap="none" normalizeH="0" baseline="0" dirty="0">
                <a:ln>
                  <a:noFill/>
                </a:ln>
                <a:solidFill>
                  <a:schemeClr val="tx1"/>
                </a:solidFill>
                <a:effectLst/>
                <a:latin typeface="Arial Black" panose="020B0A04020102020204" pitchFamily="34" charset="0"/>
              </a:rPr>
              <a:t>year-on-year</a:t>
            </a:r>
            <a:r>
              <a:rPr kumimoji="0" lang="en-US" altLang="en-US" sz="1200" b="0" i="0" u="none" strike="noStrike" cap="none" normalizeH="0" baseline="0" dirty="0">
                <a:ln>
                  <a:noFill/>
                </a:ln>
                <a:solidFill>
                  <a:schemeClr val="tx1"/>
                </a:solidFill>
                <a:effectLst/>
                <a:latin typeface="Arial Black" panose="020B0A04020102020204" pitchFamily="34" charset="0"/>
              </a:rPr>
              <a:t> turnover trend.</a:t>
            </a:r>
            <a:br>
              <a:rPr kumimoji="0" lang="en-US" altLang="en-US" sz="1200" b="0" i="0" u="none" strike="noStrike" cap="none" normalizeH="0" baseline="0" dirty="0">
                <a:ln>
                  <a:noFill/>
                </a:ln>
                <a:solidFill>
                  <a:schemeClr val="tx1"/>
                </a:solidFill>
                <a:effectLst/>
                <a:latin typeface="Arial Black" panose="020B0A04020102020204" pitchFamily="34" charset="0"/>
              </a:rPr>
            </a:br>
            <a:r>
              <a:rPr kumimoji="0" lang="en-US" altLang="en-US" sz="1200" b="0" i="0" u="none" strike="noStrike" cap="none" normalizeH="0" baseline="0" dirty="0">
                <a:ln>
                  <a:noFill/>
                </a:ln>
                <a:solidFill>
                  <a:schemeClr val="tx1"/>
                </a:solidFill>
                <a:effectLst/>
                <a:latin typeface="Arial Black" panose="020B0A04020102020204" pitchFamily="34" charset="0"/>
              </a:rPr>
              <a:t>This is based on the </a:t>
            </a:r>
            <a:r>
              <a:rPr kumimoji="0" lang="en-US" altLang="en-US" sz="1400" b="1" i="0" u="none" strike="noStrike" cap="none" normalizeH="0" baseline="0" dirty="0">
                <a:ln>
                  <a:noFill/>
                </a:ln>
                <a:solidFill>
                  <a:schemeClr val="tx1"/>
                </a:solidFill>
                <a:effectLst/>
                <a:latin typeface="Arial Black" panose="020B0A04020102020204" pitchFamily="34" charset="0"/>
              </a:rPr>
              <a:t>lowest</a:t>
            </a:r>
            <a:r>
              <a:rPr kumimoji="0" lang="en-US" altLang="en-US" sz="1200" b="1" i="0" u="none" strike="noStrike" cap="none" normalizeH="0" baseline="0" dirty="0">
                <a:ln>
                  <a:noFill/>
                </a:ln>
                <a:solidFill>
                  <a:schemeClr val="tx1"/>
                </a:solidFill>
                <a:effectLst/>
                <a:latin typeface="Arial Black" panose="020B0A04020102020204" pitchFamily="34" charset="0"/>
              </a:rPr>
              <a:t> standard deviation (5.79%)</a:t>
            </a:r>
            <a:r>
              <a:rPr kumimoji="0" lang="en-US" altLang="en-US" sz="1200" b="0" i="0" u="none" strike="noStrike" cap="none" normalizeH="0" baseline="0" dirty="0">
                <a:ln>
                  <a:noFill/>
                </a:ln>
                <a:solidFill>
                  <a:schemeClr val="tx1"/>
                </a:solidFill>
                <a:effectLst/>
                <a:latin typeface="Arial Black" panose="020B0A04020102020204" pitchFamily="34" charset="0"/>
              </a:rPr>
              <a:t> in its YoY turnover growth figures across 2022 to 2025.</a:t>
            </a:r>
            <a:br>
              <a:rPr kumimoji="0" lang="en-US" altLang="en-US" sz="1200" b="0" i="0" u="none" strike="noStrike" cap="none" normalizeH="0" baseline="0" dirty="0">
                <a:ln>
                  <a:noFill/>
                </a:ln>
                <a:solidFill>
                  <a:schemeClr val="tx1"/>
                </a:solidFill>
                <a:effectLst/>
                <a:latin typeface="Arial Black" panose="020B0A04020102020204" pitchFamily="34" charset="0"/>
              </a:rPr>
            </a:br>
            <a:r>
              <a:rPr kumimoji="0" lang="en-US" altLang="en-US" sz="1200" b="0" i="0" u="none" strike="noStrike" cap="none" normalizeH="0" baseline="0" dirty="0">
                <a:ln>
                  <a:noFill/>
                </a:ln>
                <a:solidFill>
                  <a:schemeClr val="tx1"/>
                </a:solidFill>
                <a:effectLst/>
                <a:latin typeface="Arial Black" panose="020B0A04020102020204" pitchFamily="34" charset="0"/>
              </a:rPr>
              <a:t>Unlike other sectors that show higher volatility (e.g., Healthcare 34.4%, Manufacturing 33.37%), the construction sector maintained </a:t>
            </a:r>
            <a:r>
              <a:rPr kumimoji="0" lang="en-US" altLang="en-US" sz="1200" b="1" i="0" u="none" strike="noStrike" cap="none" normalizeH="0" baseline="0" dirty="0">
                <a:ln>
                  <a:noFill/>
                </a:ln>
                <a:solidFill>
                  <a:schemeClr val="tx1"/>
                </a:solidFill>
                <a:effectLst/>
                <a:latin typeface="Arial Black" panose="020B0A04020102020204" pitchFamily="34" charset="0"/>
              </a:rPr>
              <a:t>stable performance over time</a:t>
            </a:r>
            <a:r>
              <a:rPr kumimoji="0" lang="en-US" altLang="en-US" sz="1200" b="0" i="0" u="none" strike="noStrike" cap="none" normalizeH="0" baseline="0" dirty="0">
                <a:ln>
                  <a:noFill/>
                </a:ln>
                <a:solidFill>
                  <a:schemeClr val="tx1"/>
                </a:solidFill>
                <a:effectLst/>
                <a:latin typeface="Arial Black" panose="020B0A04020102020204" pitchFamily="34" charset="0"/>
              </a:rPr>
              <a:t>, indicating steady economic activity or resilience to external shocks.</a:t>
            </a:r>
          </a:p>
        </p:txBody>
      </p:sp>
    </p:spTree>
    <p:extLst>
      <p:ext uri="{BB962C8B-B14F-4D97-AF65-F5344CB8AC3E}">
        <p14:creationId xmlns:p14="http://schemas.microsoft.com/office/powerpoint/2010/main" val="22232954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9ACE4-B730-558A-7929-508382151ABA}"/>
              </a:ext>
            </a:extLst>
          </p:cNvPr>
          <p:cNvSpPr>
            <a:spLocks noGrp="1"/>
          </p:cNvSpPr>
          <p:nvPr>
            <p:ph type="title"/>
          </p:nvPr>
        </p:nvSpPr>
        <p:spPr>
          <a:xfrm>
            <a:off x="839788" y="365126"/>
            <a:ext cx="10515600" cy="460374"/>
          </a:xfrm>
          <a:solidFill>
            <a:schemeClr val="accent2">
              <a:lumMod val="20000"/>
              <a:lumOff val="80000"/>
            </a:schemeClr>
          </a:solidFill>
        </p:spPr>
        <p:txBody>
          <a:bodyPr>
            <a:normAutofit fontScale="90000"/>
          </a:bodyPr>
          <a:lstStyle/>
          <a:p>
            <a:r>
              <a:rPr lang="en-US" sz="1800" b="1" i="0" u="none" strike="noStrike" dirty="0">
                <a:solidFill>
                  <a:srgbClr val="000000"/>
                </a:solidFill>
                <a:effectLst/>
                <a:latin typeface="Arial" panose="020B0604020202020204" pitchFamily="34" charset="0"/>
              </a:rPr>
              <a:t>2. What is the MOST common month to incorporate a business? Is this true for all Company Types?</a:t>
            </a:r>
            <a:r>
              <a:rPr lang="en-US" dirty="0"/>
              <a:t> </a:t>
            </a:r>
          </a:p>
        </p:txBody>
      </p:sp>
      <p:sp>
        <p:nvSpPr>
          <p:cNvPr id="3" name="Text Placeholder 2">
            <a:extLst>
              <a:ext uri="{FF2B5EF4-FFF2-40B4-BE49-F238E27FC236}">
                <a16:creationId xmlns:a16="http://schemas.microsoft.com/office/drawing/2014/main" id="{B3CDD60E-AF97-CBEA-F5EC-B88E286647F5}"/>
              </a:ext>
            </a:extLst>
          </p:cNvPr>
          <p:cNvSpPr>
            <a:spLocks noGrp="1"/>
          </p:cNvSpPr>
          <p:nvPr>
            <p:ph type="body" idx="1"/>
          </p:nvPr>
        </p:nvSpPr>
        <p:spPr>
          <a:xfrm>
            <a:off x="839789" y="1681163"/>
            <a:ext cx="5065712" cy="823912"/>
          </a:xfrm>
        </p:spPr>
        <p:txBody>
          <a:bodyPr>
            <a:normAutofit/>
          </a:bodyPr>
          <a:lstStyle/>
          <a:p>
            <a:pPr algn="ctr"/>
            <a:r>
              <a:rPr lang="en-US" sz="1800" b="1" i="0" u="none" strike="noStrike" dirty="0">
                <a:solidFill>
                  <a:srgbClr val="000000"/>
                </a:solidFill>
                <a:effectLst/>
                <a:latin typeface="Arial Black" panose="020B0A04020102020204" pitchFamily="34" charset="0"/>
              </a:rPr>
              <a:t>The Most Common Month To incorporate a business Is March</a:t>
            </a:r>
            <a:r>
              <a:rPr lang="en-US" dirty="0">
                <a:latin typeface="Arial Black" panose="020B0A04020102020204" pitchFamily="34" charset="0"/>
              </a:rPr>
              <a:t> </a:t>
            </a:r>
          </a:p>
        </p:txBody>
      </p:sp>
      <p:sp>
        <p:nvSpPr>
          <p:cNvPr id="5" name="Text Placeholder 4">
            <a:extLst>
              <a:ext uri="{FF2B5EF4-FFF2-40B4-BE49-F238E27FC236}">
                <a16:creationId xmlns:a16="http://schemas.microsoft.com/office/drawing/2014/main" id="{02883CB7-7301-9306-3BF8-88CC938E7755}"/>
              </a:ext>
            </a:extLst>
          </p:cNvPr>
          <p:cNvSpPr>
            <a:spLocks noGrp="1"/>
          </p:cNvSpPr>
          <p:nvPr>
            <p:ph type="body" sz="quarter" idx="3"/>
          </p:nvPr>
        </p:nvSpPr>
        <p:spPr>
          <a:xfrm>
            <a:off x="6172200" y="1206499"/>
            <a:ext cx="5183188" cy="1092201"/>
          </a:xfrm>
        </p:spPr>
        <p:txBody>
          <a:bodyPr>
            <a:noAutofit/>
          </a:bodyPr>
          <a:lstStyle/>
          <a:p>
            <a:pPr algn="just">
              <a:lnSpc>
                <a:spcPct val="150000"/>
              </a:lnSpc>
            </a:pPr>
            <a:r>
              <a:rPr lang="en-US" sz="1400" dirty="0">
                <a:latin typeface="Arial Black" panose="020B0A04020102020204" pitchFamily="34" charset="0"/>
              </a:rPr>
              <a:t>This is not true for all company type as it is observed from the chart that other incorporation month exist apart from the month of march.</a:t>
            </a:r>
          </a:p>
        </p:txBody>
      </p:sp>
      <p:graphicFrame>
        <p:nvGraphicFramePr>
          <p:cNvPr id="13" name="Content Placeholder 12">
            <a:extLst>
              <a:ext uri="{FF2B5EF4-FFF2-40B4-BE49-F238E27FC236}">
                <a16:creationId xmlns:a16="http://schemas.microsoft.com/office/drawing/2014/main" id="{3819AB67-712E-DA68-9A52-34C5F60C5F5D}"/>
              </a:ext>
            </a:extLst>
          </p:cNvPr>
          <p:cNvGraphicFramePr>
            <a:graphicFrameLocks noGrp="1"/>
          </p:cNvGraphicFramePr>
          <p:nvPr>
            <p:ph sz="quarter" idx="4"/>
            <p:extLst>
              <p:ext uri="{D42A27DB-BD31-4B8C-83A1-F6EECF244321}">
                <p14:modId xmlns:p14="http://schemas.microsoft.com/office/powerpoint/2010/main" val="1355417437"/>
              </p:ext>
            </p:extLst>
          </p:nvPr>
        </p:nvGraphicFramePr>
        <p:xfrm>
          <a:off x="6172200" y="2298701"/>
          <a:ext cx="5183188" cy="389096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4" name="Content Placeholder 13">
            <a:extLst>
              <a:ext uri="{FF2B5EF4-FFF2-40B4-BE49-F238E27FC236}">
                <a16:creationId xmlns:a16="http://schemas.microsoft.com/office/drawing/2014/main" id="{854A7E19-2202-59F3-8433-587D579F7D35}"/>
              </a:ext>
            </a:extLst>
          </p:cNvPr>
          <p:cNvGraphicFramePr>
            <a:graphicFrameLocks noGrp="1"/>
          </p:cNvGraphicFramePr>
          <p:nvPr>
            <p:ph sz="half" idx="2"/>
            <p:extLst>
              <p:ext uri="{D42A27DB-BD31-4B8C-83A1-F6EECF244321}">
                <p14:modId xmlns:p14="http://schemas.microsoft.com/office/powerpoint/2010/main" val="618618599"/>
              </p:ext>
            </p:extLst>
          </p:nvPr>
        </p:nvGraphicFramePr>
        <p:xfrm>
          <a:off x="839788" y="2505075"/>
          <a:ext cx="5157787" cy="368458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9575902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D77DE-5BF9-B772-4EFA-0E52ADC38003}"/>
              </a:ext>
            </a:extLst>
          </p:cNvPr>
          <p:cNvSpPr>
            <a:spLocks noGrp="1"/>
          </p:cNvSpPr>
          <p:nvPr>
            <p:ph type="title"/>
          </p:nvPr>
        </p:nvSpPr>
        <p:spPr>
          <a:solidFill>
            <a:schemeClr val="bg2">
              <a:lumMod val="75000"/>
            </a:schemeClr>
          </a:solidFill>
        </p:spPr>
        <p:txBody>
          <a:bodyPr>
            <a:normAutofit/>
          </a:bodyPr>
          <a:lstStyle/>
          <a:p>
            <a:pPr>
              <a:lnSpc>
                <a:spcPct val="150000"/>
              </a:lnSpc>
            </a:pPr>
            <a:r>
              <a:rPr lang="en-US" sz="2000" dirty="0">
                <a:latin typeface="Arial Black" panose="020B0A04020102020204" pitchFamily="34" charset="0"/>
              </a:rPr>
              <a:t>3. How has the number of Closed companies changed over time?</a:t>
            </a:r>
          </a:p>
        </p:txBody>
      </p:sp>
      <p:graphicFrame>
        <p:nvGraphicFramePr>
          <p:cNvPr id="5" name="Content Placeholder 4">
            <a:extLst>
              <a:ext uri="{FF2B5EF4-FFF2-40B4-BE49-F238E27FC236}">
                <a16:creationId xmlns:a16="http://schemas.microsoft.com/office/drawing/2014/main" id="{4F46E2A8-980D-1F71-6FA6-7815154FEB88}"/>
              </a:ext>
            </a:extLst>
          </p:cNvPr>
          <p:cNvGraphicFramePr>
            <a:graphicFrameLocks noGrp="1"/>
          </p:cNvGraphicFramePr>
          <p:nvPr>
            <p:ph idx="1"/>
            <p:extLst>
              <p:ext uri="{D42A27DB-BD31-4B8C-83A1-F6EECF244321}">
                <p14:modId xmlns:p14="http://schemas.microsoft.com/office/powerpoint/2010/main" val="3315385090"/>
              </p:ext>
            </p:extLst>
          </p:nvPr>
        </p:nvGraphicFramePr>
        <p:xfrm>
          <a:off x="4883150" y="987425"/>
          <a:ext cx="6902450" cy="4873625"/>
        </p:xfrm>
        <a:graphic>
          <a:graphicData uri="http://schemas.openxmlformats.org/drawingml/2006/chart">
            <c:chart xmlns:c="http://schemas.openxmlformats.org/drawingml/2006/chart" xmlns:r="http://schemas.openxmlformats.org/officeDocument/2006/relationships" r:id="rId2"/>
          </a:graphicData>
        </a:graphic>
      </p:graphicFrame>
      <p:sp>
        <p:nvSpPr>
          <p:cNvPr id="14" name="Text Placeholder 13">
            <a:extLst>
              <a:ext uri="{FF2B5EF4-FFF2-40B4-BE49-F238E27FC236}">
                <a16:creationId xmlns:a16="http://schemas.microsoft.com/office/drawing/2014/main" id="{703F6854-62A5-0636-2BA2-DCEA7E21CA41}"/>
              </a:ext>
            </a:extLst>
          </p:cNvPr>
          <p:cNvSpPr>
            <a:spLocks noGrp="1"/>
          </p:cNvSpPr>
          <p:nvPr>
            <p:ph type="body" sz="half" idx="2"/>
          </p:nvPr>
        </p:nvSpPr>
        <p:spPr>
          <a:xfrm>
            <a:off x="839788" y="2228850"/>
            <a:ext cx="3932237" cy="3640138"/>
          </a:xfrm>
          <a:solidFill>
            <a:schemeClr val="tx2">
              <a:lumMod val="10000"/>
              <a:lumOff val="90000"/>
            </a:schemeClr>
          </a:solidFill>
        </p:spPr>
        <p:txBody>
          <a:bodyPr>
            <a:normAutofit fontScale="92500"/>
          </a:bodyPr>
          <a:lstStyle/>
          <a:p>
            <a:r>
              <a:rPr lang="en-US" sz="2000" b="1" u="sng" dirty="0">
                <a:latin typeface="Arial Black" panose="020B0A04020102020204" pitchFamily="34" charset="0"/>
              </a:rPr>
              <a:t>Insights</a:t>
            </a:r>
          </a:p>
          <a:p>
            <a:pPr algn="just">
              <a:lnSpc>
                <a:spcPct val="150000"/>
              </a:lnSpc>
            </a:pPr>
            <a:r>
              <a:rPr lang="en-US" dirty="0">
                <a:latin typeface="Arial Black" panose="020B0A04020102020204" pitchFamily="34" charset="0"/>
              </a:rPr>
              <a:t>It was observed that lots of businesses shutdown in 1900 ,then from 1983, the number of business closed were moderate &lt; less than 35 yearly. Then a noticeable changes was observed starting from 2019 - 2023 with a spike in year 2022. This could be as a result of Covid 19 (Pandemic)</a:t>
            </a:r>
          </a:p>
        </p:txBody>
      </p:sp>
    </p:spTree>
    <p:extLst>
      <p:ext uri="{BB962C8B-B14F-4D97-AF65-F5344CB8AC3E}">
        <p14:creationId xmlns:p14="http://schemas.microsoft.com/office/powerpoint/2010/main" val="30325103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AA1BD-119C-04B5-D44F-9E2A4EC4D17E}"/>
              </a:ext>
            </a:extLst>
          </p:cNvPr>
          <p:cNvSpPr>
            <a:spLocks noGrp="1"/>
          </p:cNvSpPr>
          <p:nvPr>
            <p:ph type="title"/>
          </p:nvPr>
        </p:nvSpPr>
        <p:spPr>
          <a:xfrm>
            <a:off x="839788" y="365126"/>
            <a:ext cx="10515600" cy="820738"/>
          </a:xfrm>
          <a:solidFill>
            <a:schemeClr val="bg2">
              <a:lumMod val="90000"/>
            </a:schemeClr>
          </a:solidFill>
        </p:spPr>
        <p:txBody>
          <a:bodyPr>
            <a:normAutofit fontScale="90000"/>
          </a:bodyPr>
          <a:lstStyle/>
          <a:p>
            <a:pPr>
              <a:lnSpc>
                <a:spcPct val="150000"/>
              </a:lnSpc>
            </a:pPr>
            <a:r>
              <a:rPr lang="en-US" sz="1800" dirty="0">
                <a:latin typeface="Arial Black" panose="020B0A04020102020204" pitchFamily="34" charset="0"/>
              </a:rPr>
              <a:t>4. What other conclusions can be drawn from the data. We are particularly interested in trends over time, and comparisons between different geographic areas.</a:t>
            </a:r>
          </a:p>
        </p:txBody>
      </p:sp>
      <p:sp>
        <p:nvSpPr>
          <p:cNvPr id="3" name="Text Placeholder 2">
            <a:extLst>
              <a:ext uri="{FF2B5EF4-FFF2-40B4-BE49-F238E27FC236}">
                <a16:creationId xmlns:a16="http://schemas.microsoft.com/office/drawing/2014/main" id="{E2401BDF-E7D9-27A1-9C3A-9FA0C8CC8B54}"/>
              </a:ext>
            </a:extLst>
          </p:cNvPr>
          <p:cNvSpPr>
            <a:spLocks noGrp="1"/>
          </p:cNvSpPr>
          <p:nvPr>
            <p:ph type="body" idx="1"/>
          </p:nvPr>
        </p:nvSpPr>
        <p:spPr>
          <a:xfrm>
            <a:off x="862014" y="1367235"/>
            <a:ext cx="5157787" cy="962025"/>
          </a:xfrm>
        </p:spPr>
        <p:txBody>
          <a:bodyPr>
            <a:noAutofit/>
          </a:bodyPr>
          <a:lstStyle/>
          <a:p>
            <a:pPr>
              <a:lnSpc>
                <a:spcPct val="150000"/>
              </a:lnSpc>
            </a:pPr>
            <a:r>
              <a:rPr lang="en-US" sz="1250" dirty="0">
                <a:latin typeface="Arial Black" panose="020B0A04020102020204" pitchFamily="34" charset="0"/>
              </a:rPr>
              <a:t>It was observed that new company were incorporated : 3,435 (2021) → 3,893 (2022) → 6,269 (2023) → 6,653 (2024) → 12 (2025 YTD) which Signifies  a strong growth</a:t>
            </a:r>
          </a:p>
        </p:txBody>
      </p:sp>
      <p:sp>
        <p:nvSpPr>
          <p:cNvPr id="5" name="Text Placeholder 4">
            <a:extLst>
              <a:ext uri="{FF2B5EF4-FFF2-40B4-BE49-F238E27FC236}">
                <a16:creationId xmlns:a16="http://schemas.microsoft.com/office/drawing/2014/main" id="{B6A619CC-FA7A-7503-BA08-73B78B17E472}"/>
              </a:ext>
            </a:extLst>
          </p:cNvPr>
          <p:cNvSpPr>
            <a:spLocks noGrp="1"/>
          </p:cNvSpPr>
          <p:nvPr>
            <p:ph type="body" sz="quarter" idx="3"/>
          </p:nvPr>
        </p:nvSpPr>
        <p:spPr>
          <a:xfrm>
            <a:off x="6172200" y="1428750"/>
            <a:ext cx="5183188" cy="1076325"/>
          </a:xfrm>
        </p:spPr>
        <p:txBody>
          <a:bodyPr>
            <a:noAutofit/>
          </a:bodyPr>
          <a:lstStyle/>
          <a:p>
            <a:pPr>
              <a:lnSpc>
                <a:spcPct val="150000"/>
              </a:lnSpc>
            </a:pPr>
            <a:r>
              <a:rPr lang="en-US" sz="1200" dirty="0">
                <a:latin typeface="Arial Black" panose="020B0A04020102020204" pitchFamily="34" charset="0"/>
              </a:rPr>
              <a:t>This chart shows where active companies originate from, and from observation: The UK is overwhelmingly the source of registered companies, while very few come from offshore or foreign territories.</a:t>
            </a:r>
          </a:p>
        </p:txBody>
      </p:sp>
      <p:graphicFrame>
        <p:nvGraphicFramePr>
          <p:cNvPr id="7" name="Content Placeholder 6">
            <a:extLst>
              <a:ext uri="{FF2B5EF4-FFF2-40B4-BE49-F238E27FC236}">
                <a16:creationId xmlns:a16="http://schemas.microsoft.com/office/drawing/2014/main" id="{2556A454-99BC-E241-9D7F-24E5DCBB6E3A}"/>
              </a:ext>
            </a:extLst>
          </p:cNvPr>
          <p:cNvGraphicFramePr>
            <a:graphicFrameLocks noGrp="1"/>
          </p:cNvGraphicFramePr>
          <p:nvPr>
            <p:ph sz="half" idx="2"/>
            <p:extLst>
              <p:ext uri="{D42A27DB-BD31-4B8C-83A1-F6EECF244321}">
                <p14:modId xmlns:p14="http://schemas.microsoft.com/office/powerpoint/2010/main" val="3085437029"/>
              </p:ext>
            </p:extLst>
          </p:nvPr>
        </p:nvGraphicFramePr>
        <p:xfrm>
          <a:off x="1492250" y="2510632"/>
          <a:ext cx="4603750" cy="368458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Content Placeholder 10">
            <a:extLst>
              <a:ext uri="{FF2B5EF4-FFF2-40B4-BE49-F238E27FC236}">
                <a16:creationId xmlns:a16="http://schemas.microsoft.com/office/drawing/2014/main" id="{5A01CA5E-3AD2-2FF5-A9D3-4C2C9E069669}"/>
              </a:ext>
            </a:extLst>
          </p:cNvPr>
          <p:cNvGraphicFramePr>
            <a:graphicFrameLocks noGrp="1"/>
          </p:cNvGraphicFramePr>
          <p:nvPr>
            <p:ph sz="quarter" idx="4"/>
            <p:extLst>
              <p:ext uri="{D42A27DB-BD31-4B8C-83A1-F6EECF244321}">
                <p14:modId xmlns:p14="http://schemas.microsoft.com/office/powerpoint/2010/main" val="3784619319"/>
              </p:ext>
            </p:extLst>
          </p:nvPr>
        </p:nvGraphicFramePr>
        <p:xfrm>
          <a:off x="6654800" y="2606675"/>
          <a:ext cx="5183188" cy="368458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6711689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EFB6F-0525-311F-CFF3-E5777DEE24EB}"/>
              </a:ext>
            </a:extLst>
          </p:cNvPr>
          <p:cNvSpPr>
            <a:spLocks noGrp="1"/>
          </p:cNvSpPr>
          <p:nvPr>
            <p:ph type="title"/>
          </p:nvPr>
        </p:nvSpPr>
        <p:spPr>
          <a:xfrm>
            <a:off x="838200" y="365126"/>
            <a:ext cx="10515600" cy="742156"/>
          </a:xfrm>
          <a:solidFill>
            <a:schemeClr val="accent2">
              <a:lumMod val="40000"/>
              <a:lumOff val="60000"/>
            </a:schemeClr>
          </a:solidFill>
        </p:spPr>
        <p:txBody>
          <a:bodyPr>
            <a:normAutofit/>
          </a:bodyPr>
          <a:lstStyle/>
          <a:p>
            <a:r>
              <a:rPr lang="en-US" sz="3200" dirty="0">
                <a:latin typeface="Arial Black" panose="020B0A04020102020204" pitchFamily="34" charset="0"/>
              </a:rPr>
              <a:t>Conclusion                             Recommendation</a:t>
            </a:r>
          </a:p>
        </p:txBody>
      </p:sp>
      <p:sp>
        <p:nvSpPr>
          <p:cNvPr id="3" name="Content Placeholder 2">
            <a:extLst>
              <a:ext uri="{FF2B5EF4-FFF2-40B4-BE49-F238E27FC236}">
                <a16:creationId xmlns:a16="http://schemas.microsoft.com/office/drawing/2014/main" id="{862F60C7-0976-6DB5-65BD-63029DBA5D6B}"/>
              </a:ext>
            </a:extLst>
          </p:cNvPr>
          <p:cNvSpPr>
            <a:spLocks noGrp="1"/>
          </p:cNvSpPr>
          <p:nvPr>
            <p:ph sz="half" idx="1"/>
          </p:nvPr>
        </p:nvSpPr>
        <p:spPr>
          <a:xfrm>
            <a:off x="507206" y="1482328"/>
            <a:ext cx="5093494" cy="4576763"/>
          </a:xfrm>
          <a:solidFill>
            <a:schemeClr val="bg2"/>
          </a:solidFill>
        </p:spPr>
        <p:txBody>
          <a:bodyPr>
            <a:normAutofit fontScale="55000" lnSpcReduction="20000"/>
          </a:bodyPr>
          <a:lstStyle/>
          <a:p>
            <a:pPr marL="342900" marR="0" lvl="0" indent="-342900">
              <a:lnSpc>
                <a:spcPct val="170000"/>
              </a:lnSpc>
              <a:tabLst>
                <a:tab pos="457200" algn="l"/>
              </a:tabLst>
            </a:pPr>
            <a:r>
              <a:rPr lang="en-US" sz="2800" b="1" dirty="0">
                <a:effectLst/>
                <a:latin typeface="Arial Black" panose="020B0A04020102020204" pitchFamily="34" charset="0"/>
                <a:ea typeface="Times New Roman" panose="02020603050405020304" pitchFamily="18" charset="0"/>
              </a:rPr>
              <a:t>The UK is the main location for company registrations</a:t>
            </a:r>
            <a:r>
              <a:rPr lang="en-US" sz="2800" dirty="0">
                <a:effectLst/>
                <a:latin typeface="Arial Black" panose="020B0A04020102020204" pitchFamily="34" charset="0"/>
                <a:ea typeface="Times New Roman" panose="02020603050405020304" pitchFamily="18" charset="0"/>
              </a:rPr>
              <a:t>, reflecting its strong legal and business environment, while offshore registrations appear to be declining.</a:t>
            </a:r>
          </a:p>
          <a:p>
            <a:pPr marL="342900" marR="0" lvl="0" indent="-342900">
              <a:lnSpc>
                <a:spcPct val="170000"/>
              </a:lnSpc>
              <a:tabLst>
                <a:tab pos="457200" algn="l"/>
              </a:tabLst>
            </a:pPr>
            <a:r>
              <a:rPr lang="en-US" sz="2800" b="1" dirty="0">
                <a:effectLst/>
                <a:latin typeface="Arial Black" panose="020B0A04020102020204" pitchFamily="34" charset="0"/>
                <a:ea typeface="Times New Roman" panose="02020603050405020304" pitchFamily="18" charset="0"/>
              </a:rPr>
              <a:t>Business growth is increasing</a:t>
            </a:r>
            <a:r>
              <a:rPr lang="en-US" sz="2800" dirty="0">
                <a:effectLst/>
                <a:latin typeface="Arial Black" panose="020B0A04020102020204" pitchFamily="34" charset="0"/>
                <a:ea typeface="Times New Roman" panose="02020603050405020304" pitchFamily="18" charset="0"/>
              </a:rPr>
              <a:t>, especially in the other sector, showing renewed confidence despite recent economic challenges.</a:t>
            </a:r>
          </a:p>
          <a:p>
            <a:pPr marL="342900" marR="0" lvl="0" indent="-342900">
              <a:lnSpc>
                <a:spcPct val="170000"/>
              </a:lnSpc>
              <a:tabLst>
                <a:tab pos="457200" algn="l"/>
              </a:tabLst>
            </a:pPr>
            <a:r>
              <a:rPr lang="en-US" sz="2800" b="1" dirty="0">
                <a:effectLst/>
                <a:latin typeface="Arial Black" panose="020B0A04020102020204" pitchFamily="34" charset="0"/>
                <a:ea typeface="Times New Roman" panose="02020603050405020304" pitchFamily="18" charset="0"/>
              </a:rPr>
              <a:t>COVID-19 had a major impact on business closures</a:t>
            </a:r>
            <a:r>
              <a:rPr lang="en-US" sz="2800" dirty="0">
                <a:effectLst/>
                <a:latin typeface="Arial Black" panose="020B0A04020102020204" pitchFamily="34" charset="0"/>
                <a:ea typeface="Times New Roman" panose="02020603050405020304" pitchFamily="18" charset="0"/>
              </a:rPr>
              <a:t>, particularly affecting small and newly established companies around 2022.</a:t>
            </a:r>
          </a:p>
          <a:p>
            <a:endParaRPr lang="en-US" dirty="0"/>
          </a:p>
        </p:txBody>
      </p:sp>
      <p:sp>
        <p:nvSpPr>
          <p:cNvPr id="4" name="Content Placeholder 3">
            <a:extLst>
              <a:ext uri="{FF2B5EF4-FFF2-40B4-BE49-F238E27FC236}">
                <a16:creationId xmlns:a16="http://schemas.microsoft.com/office/drawing/2014/main" id="{1038C246-4BA9-9378-4329-0CAC5C625A30}"/>
              </a:ext>
            </a:extLst>
          </p:cNvPr>
          <p:cNvSpPr>
            <a:spLocks noGrp="1"/>
          </p:cNvSpPr>
          <p:nvPr>
            <p:ph sz="half" idx="2"/>
          </p:nvPr>
        </p:nvSpPr>
        <p:spPr>
          <a:xfrm>
            <a:off x="5750719" y="1178720"/>
            <a:ext cx="5603081" cy="4998244"/>
          </a:xfrm>
          <a:solidFill>
            <a:schemeClr val="accent2">
              <a:lumMod val="40000"/>
              <a:lumOff val="60000"/>
            </a:schemeClr>
          </a:solidFill>
        </p:spPr>
        <p:txBody>
          <a:bodyPr>
            <a:noAutofit/>
          </a:bodyPr>
          <a:lstStyle/>
          <a:p>
            <a:pPr>
              <a:lnSpc>
                <a:spcPct val="120000"/>
              </a:lnSpc>
              <a:buFont typeface="+mj-lt"/>
              <a:buAutoNum type="arabicPeriod"/>
            </a:pPr>
            <a:r>
              <a:rPr lang="en-US" sz="1400" dirty="0">
                <a:latin typeface="Arial Black" panose="020B0A04020102020204" pitchFamily="34" charset="0"/>
              </a:rPr>
              <a:t>Use the Construction sector as a benchmark for stable and compliant tax behavior.</a:t>
            </a:r>
          </a:p>
          <a:p>
            <a:pPr>
              <a:lnSpc>
                <a:spcPct val="120000"/>
              </a:lnSpc>
              <a:buFont typeface="+mj-lt"/>
              <a:buAutoNum type="arabicPeriod"/>
            </a:pPr>
            <a:r>
              <a:rPr lang="en-US" sz="1400" dirty="0">
                <a:latin typeface="Arial Black" panose="020B0A04020102020204" pitchFamily="34" charset="0"/>
              </a:rPr>
              <a:t>Implement real-time tax monitoring or quarterly reminders for volatile sectors like Healthcare and Manufacturing.</a:t>
            </a:r>
          </a:p>
          <a:p>
            <a:pPr>
              <a:lnSpc>
                <a:spcPct val="120000"/>
              </a:lnSpc>
              <a:buFont typeface="+mj-lt"/>
              <a:buAutoNum type="arabicPeriod"/>
            </a:pPr>
            <a:r>
              <a:rPr lang="en-US" sz="1400" dirty="0">
                <a:latin typeface="Arial Black" panose="020B0A04020102020204" pitchFamily="34" charset="0"/>
              </a:rPr>
              <a:t>Provide early-stage tax education and onboarding for new incorporations, especially in Q1–Q2.</a:t>
            </a:r>
          </a:p>
          <a:p>
            <a:pPr>
              <a:lnSpc>
                <a:spcPct val="120000"/>
              </a:lnSpc>
              <a:buFont typeface="+mj-lt"/>
              <a:buAutoNum type="arabicPeriod"/>
            </a:pPr>
            <a:r>
              <a:rPr lang="en-US" sz="1400" dirty="0">
                <a:latin typeface="Arial Black" panose="020B0A04020102020204" pitchFamily="34" charset="0"/>
              </a:rPr>
              <a:t>Flag businesses with missing postcodes, as location affects tax rates and obligations.</a:t>
            </a:r>
          </a:p>
          <a:p>
            <a:pPr>
              <a:lnSpc>
                <a:spcPct val="120000"/>
              </a:lnSpc>
              <a:buFont typeface="+mj-lt"/>
              <a:buAutoNum type="arabicPeriod"/>
            </a:pPr>
            <a:r>
              <a:rPr lang="en-US" sz="1400" dirty="0">
                <a:latin typeface="Arial Black" panose="020B0A04020102020204" pitchFamily="34" charset="0"/>
              </a:rPr>
              <a:t>Investigate Active companies with zero turnover for five years for possible non-compliance or tax avoidance.</a:t>
            </a:r>
          </a:p>
          <a:p>
            <a:pPr>
              <a:lnSpc>
                <a:spcPct val="120000"/>
              </a:lnSpc>
              <a:buFont typeface="+mj-lt"/>
              <a:buAutoNum type="arabicPeriod"/>
            </a:pPr>
            <a:r>
              <a:rPr lang="en-US" sz="1400" dirty="0">
                <a:latin typeface="Arial Black" panose="020B0A04020102020204" pitchFamily="34" charset="0"/>
              </a:rPr>
              <a:t>Use 2023–2025 turnover trends to forecast future tax revenue and support public budgeting.</a:t>
            </a:r>
          </a:p>
          <a:p>
            <a:pPr>
              <a:lnSpc>
                <a:spcPct val="120000"/>
              </a:lnSpc>
              <a:buFont typeface="+mj-lt"/>
              <a:buAutoNum type="arabicPeriod"/>
            </a:pPr>
            <a:r>
              <a:rPr lang="en-US" sz="1400" dirty="0">
                <a:latin typeface="Arial Black" panose="020B0A04020102020204" pitchFamily="34" charset="0"/>
              </a:rPr>
              <a:t>Flag low incorporations in 2025 YTD as a potential data quality issue or reporting delay.</a:t>
            </a:r>
          </a:p>
        </p:txBody>
      </p:sp>
    </p:spTree>
    <p:extLst>
      <p:ext uri="{BB962C8B-B14F-4D97-AF65-F5344CB8AC3E}">
        <p14:creationId xmlns:p14="http://schemas.microsoft.com/office/powerpoint/2010/main" val="9745208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A3A91F0D519914297D6A2C32910F675" ma:contentTypeVersion="9" ma:contentTypeDescription="Create a new document." ma:contentTypeScope="" ma:versionID="f3156134810601979e0f1ee0701dcbed">
  <xsd:schema xmlns:xsd="http://www.w3.org/2001/XMLSchema" xmlns:xs="http://www.w3.org/2001/XMLSchema" xmlns:p="http://schemas.microsoft.com/office/2006/metadata/properties" xmlns:ns3="4aa4ff20-41c1-4435-8fc2-a95b42d30bc8" targetNamespace="http://schemas.microsoft.com/office/2006/metadata/properties" ma:root="true" ma:fieldsID="e8fa3fe60a2134d5d8a9508284af1549" ns3:_="">
    <xsd:import namespace="4aa4ff20-41c1-4435-8fc2-a95b42d30bc8"/>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MediaServiceSystemTags" minOccurs="0"/>
                <xsd:element ref="ns3:MediaServiceGenerationTime" minOccurs="0"/>
                <xsd:element ref="ns3:MediaServiceEventHashCode" minOccurs="0"/>
                <xsd:element ref="ns3:MediaServiceOCR"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a4ff20-41c1-4435-8fc2-a95b42d30b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SystemTags" ma:index="12" nillable="true" ma:displayName="MediaServiceSystemTags" ma:hidden="true" ma:internalName="MediaServiceSystemTags" ma:readOnly="true">
      <xsd:simpleType>
        <xsd:restriction base="dms:Note"/>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6"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D37EDCF-0243-4BEC-BCEC-DCF20FBF638B}">
  <ds:schemaRefs>
    <ds:schemaRef ds:uri="http://schemas.microsoft.com/sharepoint/v3/contenttype/forms"/>
  </ds:schemaRefs>
</ds:datastoreItem>
</file>

<file path=customXml/itemProps2.xml><?xml version="1.0" encoding="utf-8"?>
<ds:datastoreItem xmlns:ds="http://schemas.openxmlformats.org/officeDocument/2006/customXml" ds:itemID="{FC824E7F-09AB-4302-A2D9-83CA6E3EC36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aa4ff20-41c1-4435-8fc2-a95b42d30bc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454D5FC-CB03-4542-A5D5-87920A5CBDCE}">
  <ds:schemaRefs>
    <ds:schemaRef ds:uri="http://www.w3.org/XML/1998/namespace"/>
    <ds:schemaRef ds:uri="http://schemas.microsoft.com/office/2006/metadata/properties"/>
    <ds:schemaRef ds:uri="http://purl.org/dc/terms/"/>
    <ds:schemaRef ds:uri="4aa4ff20-41c1-4435-8fc2-a95b42d30bc8"/>
    <ds:schemaRef ds:uri="http://purl.org/dc/dcmitype/"/>
    <ds:schemaRef ds:uri="http://purl.org/dc/elements/1.1/"/>
    <ds:schemaRef ds:uri="http://schemas.microsoft.com/office/infopath/2007/PartnerControls"/>
    <ds:schemaRef ds:uri="http://schemas.openxmlformats.org/package/2006/metadata/core-properties"/>
    <ds:schemaRef ds:uri="http://schemas.microsoft.com/office/2006/documentManagement/types"/>
  </ds:schemaRefs>
</ds:datastoreItem>
</file>

<file path=docProps/app.xml><?xml version="1.0" encoding="utf-8"?>
<Properties xmlns="http://schemas.openxmlformats.org/officeDocument/2006/extended-properties" xmlns:vt="http://schemas.openxmlformats.org/officeDocument/2006/docPropsVTypes">
  <Template>TM03457464[[fn=Dividend]]</Template>
  <TotalTime>546</TotalTime>
  <Words>699</Words>
  <Application>Microsoft Office PowerPoint</Application>
  <PresentationFormat>Widescreen</PresentationFormat>
  <Paragraphs>44</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Aptos</vt:lpstr>
      <vt:lpstr>Aptos Display</vt:lpstr>
      <vt:lpstr>Aptos Narrow</vt:lpstr>
      <vt:lpstr>Arial</vt:lpstr>
      <vt:lpstr>Arial Black</vt:lpstr>
      <vt:lpstr>Office Theme</vt:lpstr>
      <vt:lpstr>INTRODUCTION AND OBJECTIVES</vt:lpstr>
      <vt:lpstr>1. Which sector shows the most consistent year-on-year turnover growth or decline?</vt:lpstr>
      <vt:lpstr>2. What is the MOST common month to incorporate a business? Is this true for all Company Types? </vt:lpstr>
      <vt:lpstr>3. How has the number of Closed companies changed over time?</vt:lpstr>
      <vt:lpstr>4. What other conclusions can be drawn from the data. We are particularly interested in trends over time, and comparisons between different geographic areas.</vt:lpstr>
      <vt:lpstr>Conclusion                             Recommendation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Lufadeju, Abisola I.</dc:creator>
  <cp:lastModifiedBy>Lufadeju, Abisola I.</cp:lastModifiedBy>
  <cp:revision>2</cp:revision>
  <dcterms:created xsi:type="dcterms:W3CDTF">2025-10-01T07:44:52Z</dcterms:created>
  <dcterms:modified xsi:type="dcterms:W3CDTF">2025-10-01T17:01:33Z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0x010100AA3A91F0D519914297D6A2C32910F675</vt:lpwstr>
  </property>
</Properties>
</file>